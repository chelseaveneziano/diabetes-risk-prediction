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5"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86574"/>
  </p:normalViewPr>
  <p:slideViewPr>
    <p:cSldViewPr snapToGrid="0" snapToObjects="1">
      <p:cViewPr varScale="1">
        <p:scale>
          <a:sx n="78" d="100"/>
          <a:sy n="78" d="100"/>
        </p:scale>
        <p:origin x="2296"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459E38-FE16-4BC5-A495-31D12FF923D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7EC8C207-A417-4F08-9909-2E56E77F7171}">
      <dgm:prSet/>
      <dgm:spPr/>
      <dgm:t>
        <a:bodyPr/>
        <a:lstStyle/>
        <a:p>
          <a:r>
            <a:rPr lang="en-US" b="0" i="0"/>
            <a:t>Diabetes affects over 37 million people in the U.S.</a:t>
          </a:r>
          <a:endParaRPr lang="en-US"/>
        </a:p>
      </dgm:t>
    </dgm:pt>
    <dgm:pt modelId="{D0C6B08E-7D67-4762-8804-5E454B919463}" type="parTrans" cxnId="{F40DBBB2-E514-427F-B9DC-D468E867488C}">
      <dgm:prSet/>
      <dgm:spPr/>
      <dgm:t>
        <a:bodyPr/>
        <a:lstStyle/>
        <a:p>
          <a:endParaRPr lang="en-US"/>
        </a:p>
      </dgm:t>
    </dgm:pt>
    <dgm:pt modelId="{93A726FA-F25E-4740-8209-7B48DD40C1B5}" type="sibTrans" cxnId="{F40DBBB2-E514-427F-B9DC-D468E867488C}">
      <dgm:prSet/>
      <dgm:spPr/>
      <dgm:t>
        <a:bodyPr/>
        <a:lstStyle/>
        <a:p>
          <a:endParaRPr lang="en-US"/>
        </a:p>
      </dgm:t>
    </dgm:pt>
    <dgm:pt modelId="{AF77CA1C-43D9-48C3-96ED-E4BA2C368E02}">
      <dgm:prSet/>
      <dgm:spPr/>
      <dgm:t>
        <a:bodyPr/>
        <a:lstStyle/>
        <a:p>
          <a:r>
            <a:rPr lang="en-US" b="0" i="0"/>
            <a:t>Many cases go undiagnosed until symptoms become severe.</a:t>
          </a:r>
          <a:endParaRPr lang="en-US"/>
        </a:p>
      </dgm:t>
    </dgm:pt>
    <dgm:pt modelId="{B6F085F7-FBA6-4472-AB5B-4285787E5F29}" type="parTrans" cxnId="{C7D7010B-90F6-4C64-B33B-7A3995AA4CFA}">
      <dgm:prSet/>
      <dgm:spPr/>
      <dgm:t>
        <a:bodyPr/>
        <a:lstStyle/>
        <a:p>
          <a:endParaRPr lang="en-US"/>
        </a:p>
      </dgm:t>
    </dgm:pt>
    <dgm:pt modelId="{DEBFA4FD-C47F-4F5F-9BBB-4A60510C37EE}" type="sibTrans" cxnId="{C7D7010B-90F6-4C64-B33B-7A3995AA4CFA}">
      <dgm:prSet/>
      <dgm:spPr/>
      <dgm:t>
        <a:bodyPr/>
        <a:lstStyle/>
        <a:p>
          <a:endParaRPr lang="en-US"/>
        </a:p>
      </dgm:t>
    </dgm:pt>
    <dgm:pt modelId="{270F71A8-E140-4BA3-A0AF-5C209603CABE}">
      <dgm:prSet/>
      <dgm:spPr/>
      <dgm:t>
        <a:bodyPr/>
        <a:lstStyle/>
        <a:p>
          <a:r>
            <a:rPr lang="en-US" b="0" i="0"/>
            <a:t>Early detection is key to prevention and better health outcomes.</a:t>
          </a:r>
          <a:endParaRPr lang="en-US"/>
        </a:p>
      </dgm:t>
    </dgm:pt>
    <dgm:pt modelId="{6BEE9C6C-2116-48B4-94A8-931DEDD9C8FD}" type="parTrans" cxnId="{5EDCAADE-0313-40FE-8297-D4D3A7E2DF80}">
      <dgm:prSet/>
      <dgm:spPr/>
      <dgm:t>
        <a:bodyPr/>
        <a:lstStyle/>
        <a:p>
          <a:endParaRPr lang="en-US"/>
        </a:p>
      </dgm:t>
    </dgm:pt>
    <dgm:pt modelId="{83C00FE7-81E4-402D-B4CC-C93041BF7B1F}" type="sibTrans" cxnId="{5EDCAADE-0313-40FE-8297-D4D3A7E2DF80}">
      <dgm:prSet/>
      <dgm:spPr/>
      <dgm:t>
        <a:bodyPr/>
        <a:lstStyle/>
        <a:p>
          <a:endParaRPr lang="en-US"/>
        </a:p>
      </dgm:t>
    </dgm:pt>
    <dgm:pt modelId="{A0BC2DB8-D63F-4912-B6D1-0E036BBF555F}">
      <dgm:prSet/>
      <dgm:spPr/>
      <dgm:t>
        <a:bodyPr/>
        <a:lstStyle/>
        <a:p>
          <a:r>
            <a:rPr lang="en-US" b="0" i="0"/>
            <a:t>Machine learning offers a way to support faster, more accurate risk identification.</a:t>
          </a:r>
          <a:endParaRPr lang="en-US"/>
        </a:p>
      </dgm:t>
    </dgm:pt>
    <dgm:pt modelId="{9B79DF44-9BB7-4F8D-B5D6-BB7360564A53}" type="parTrans" cxnId="{290FBA74-B9AA-4AFD-8BE2-9ED1FFCB7EA4}">
      <dgm:prSet/>
      <dgm:spPr/>
      <dgm:t>
        <a:bodyPr/>
        <a:lstStyle/>
        <a:p>
          <a:endParaRPr lang="en-US"/>
        </a:p>
      </dgm:t>
    </dgm:pt>
    <dgm:pt modelId="{318501A0-9B9A-4BBF-A731-74B719C1AD90}" type="sibTrans" cxnId="{290FBA74-B9AA-4AFD-8BE2-9ED1FFCB7EA4}">
      <dgm:prSet/>
      <dgm:spPr/>
      <dgm:t>
        <a:bodyPr/>
        <a:lstStyle/>
        <a:p>
          <a:endParaRPr lang="en-US"/>
        </a:p>
      </dgm:t>
    </dgm:pt>
    <dgm:pt modelId="{9DFE0468-FA48-DA4F-8B5F-17634E31A955}" type="pres">
      <dgm:prSet presAssocID="{9F459E38-FE16-4BC5-A495-31D12FF923DE}" presName="linear" presStyleCnt="0">
        <dgm:presLayoutVars>
          <dgm:animLvl val="lvl"/>
          <dgm:resizeHandles val="exact"/>
        </dgm:presLayoutVars>
      </dgm:prSet>
      <dgm:spPr/>
    </dgm:pt>
    <dgm:pt modelId="{8D697572-4F7D-FC48-B86B-36A6417CD815}" type="pres">
      <dgm:prSet presAssocID="{7EC8C207-A417-4F08-9909-2E56E77F7171}" presName="parentText" presStyleLbl="node1" presStyleIdx="0" presStyleCnt="4">
        <dgm:presLayoutVars>
          <dgm:chMax val="0"/>
          <dgm:bulletEnabled val="1"/>
        </dgm:presLayoutVars>
      </dgm:prSet>
      <dgm:spPr/>
    </dgm:pt>
    <dgm:pt modelId="{32A7A29D-A69A-E143-B016-58B042BECBB2}" type="pres">
      <dgm:prSet presAssocID="{93A726FA-F25E-4740-8209-7B48DD40C1B5}" presName="spacer" presStyleCnt="0"/>
      <dgm:spPr/>
    </dgm:pt>
    <dgm:pt modelId="{973762E3-3197-194C-8B7C-1E17CFB0723A}" type="pres">
      <dgm:prSet presAssocID="{AF77CA1C-43D9-48C3-96ED-E4BA2C368E02}" presName="parentText" presStyleLbl="node1" presStyleIdx="1" presStyleCnt="4">
        <dgm:presLayoutVars>
          <dgm:chMax val="0"/>
          <dgm:bulletEnabled val="1"/>
        </dgm:presLayoutVars>
      </dgm:prSet>
      <dgm:spPr/>
    </dgm:pt>
    <dgm:pt modelId="{27E8257B-5D0C-464D-961E-BF2E76C1512D}" type="pres">
      <dgm:prSet presAssocID="{DEBFA4FD-C47F-4F5F-9BBB-4A60510C37EE}" presName="spacer" presStyleCnt="0"/>
      <dgm:spPr/>
    </dgm:pt>
    <dgm:pt modelId="{4BCBD996-7D50-B54C-96D1-4FB3E3063D4F}" type="pres">
      <dgm:prSet presAssocID="{270F71A8-E140-4BA3-A0AF-5C209603CABE}" presName="parentText" presStyleLbl="node1" presStyleIdx="2" presStyleCnt="4">
        <dgm:presLayoutVars>
          <dgm:chMax val="0"/>
          <dgm:bulletEnabled val="1"/>
        </dgm:presLayoutVars>
      </dgm:prSet>
      <dgm:spPr/>
    </dgm:pt>
    <dgm:pt modelId="{60E3F888-A2EF-564A-BAF8-A78C1C1D2026}" type="pres">
      <dgm:prSet presAssocID="{83C00FE7-81E4-402D-B4CC-C93041BF7B1F}" presName="spacer" presStyleCnt="0"/>
      <dgm:spPr/>
    </dgm:pt>
    <dgm:pt modelId="{76CCDE5C-3AA0-0743-A979-29F57FFB3BF2}" type="pres">
      <dgm:prSet presAssocID="{A0BC2DB8-D63F-4912-B6D1-0E036BBF555F}" presName="parentText" presStyleLbl="node1" presStyleIdx="3" presStyleCnt="4">
        <dgm:presLayoutVars>
          <dgm:chMax val="0"/>
          <dgm:bulletEnabled val="1"/>
        </dgm:presLayoutVars>
      </dgm:prSet>
      <dgm:spPr/>
    </dgm:pt>
  </dgm:ptLst>
  <dgm:cxnLst>
    <dgm:cxn modelId="{C7D7010B-90F6-4C64-B33B-7A3995AA4CFA}" srcId="{9F459E38-FE16-4BC5-A495-31D12FF923DE}" destId="{AF77CA1C-43D9-48C3-96ED-E4BA2C368E02}" srcOrd="1" destOrd="0" parTransId="{B6F085F7-FBA6-4472-AB5B-4285787E5F29}" sibTransId="{DEBFA4FD-C47F-4F5F-9BBB-4A60510C37EE}"/>
    <dgm:cxn modelId="{B5D5991B-B5A7-6F48-9C74-7D02DF4DA7CD}" type="presOf" srcId="{7EC8C207-A417-4F08-9909-2E56E77F7171}" destId="{8D697572-4F7D-FC48-B86B-36A6417CD815}" srcOrd="0" destOrd="0" presId="urn:microsoft.com/office/officeart/2005/8/layout/vList2"/>
    <dgm:cxn modelId="{290FBA74-B9AA-4AFD-8BE2-9ED1FFCB7EA4}" srcId="{9F459E38-FE16-4BC5-A495-31D12FF923DE}" destId="{A0BC2DB8-D63F-4912-B6D1-0E036BBF555F}" srcOrd="3" destOrd="0" parTransId="{9B79DF44-9BB7-4F8D-B5D6-BB7360564A53}" sibTransId="{318501A0-9B9A-4BBF-A731-74B719C1AD90}"/>
    <dgm:cxn modelId="{F40DBBB2-E514-427F-B9DC-D468E867488C}" srcId="{9F459E38-FE16-4BC5-A495-31D12FF923DE}" destId="{7EC8C207-A417-4F08-9909-2E56E77F7171}" srcOrd="0" destOrd="0" parTransId="{D0C6B08E-7D67-4762-8804-5E454B919463}" sibTransId="{93A726FA-F25E-4740-8209-7B48DD40C1B5}"/>
    <dgm:cxn modelId="{D332E4C9-F3C1-E24B-A5EE-4C42C05D4C6D}" type="presOf" srcId="{AF77CA1C-43D9-48C3-96ED-E4BA2C368E02}" destId="{973762E3-3197-194C-8B7C-1E17CFB0723A}" srcOrd="0" destOrd="0" presId="urn:microsoft.com/office/officeart/2005/8/layout/vList2"/>
    <dgm:cxn modelId="{A3E203DE-FDBB-8243-B9DF-B53B13F84ED8}" type="presOf" srcId="{9F459E38-FE16-4BC5-A495-31D12FF923DE}" destId="{9DFE0468-FA48-DA4F-8B5F-17634E31A955}" srcOrd="0" destOrd="0" presId="urn:microsoft.com/office/officeart/2005/8/layout/vList2"/>
    <dgm:cxn modelId="{5EDCAADE-0313-40FE-8297-D4D3A7E2DF80}" srcId="{9F459E38-FE16-4BC5-A495-31D12FF923DE}" destId="{270F71A8-E140-4BA3-A0AF-5C209603CABE}" srcOrd="2" destOrd="0" parTransId="{6BEE9C6C-2116-48B4-94A8-931DEDD9C8FD}" sibTransId="{83C00FE7-81E4-402D-B4CC-C93041BF7B1F}"/>
    <dgm:cxn modelId="{AE4509F3-4638-EA4A-8467-35BC67FB1404}" type="presOf" srcId="{270F71A8-E140-4BA3-A0AF-5C209603CABE}" destId="{4BCBD996-7D50-B54C-96D1-4FB3E3063D4F}" srcOrd="0" destOrd="0" presId="urn:microsoft.com/office/officeart/2005/8/layout/vList2"/>
    <dgm:cxn modelId="{C39EB0FF-91E4-A04C-9E97-A0324F7941A4}" type="presOf" srcId="{A0BC2DB8-D63F-4912-B6D1-0E036BBF555F}" destId="{76CCDE5C-3AA0-0743-A979-29F57FFB3BF2}" srcOrd="0" destOrd="0" presId="urn:microsoft.com/office/officeart/2005/8/layout/vList2"/>
    <dgm:cxn modelId="{15CB9509-B541-8444-A7BF-DCF0833881C7}" type="presParOf" srcId="{9DFE0468-FA48-DA4F-8B5F-17634E31A955}" destId="{8D697572-4F7D-FC48-B86B-36A6417CD815}" srcOrd="0" destOrd="0" presId="urn:microsoft.com/office/officeart/2005/8/layout/vList2"/>
    <dgm:cxn modelId="{B2E42C8F-8290-3441-A31E-803B4DDC6719}" type="presParOf" srcId="{9DFE0468-FA48-DA4F-8B5F-17634E31A955}" destId="{32A7A29D-A69A-E143-B016-58B042BECBB2}" srcOrd="1" destOrd="0" presId="urn:microsoft.com/office/officeart/2005/8/layout/vList2"/>
    <dgm:cxn modelId="{05646787-BEFC-3A43-99EC-276932E36ECA}" type="presParOf" srcId="{9DFE0468-FA48-DA4F-8B5F-17634E31A955}" destId="{973762E3-3197-194C-8B7C-1E17CFB0723A}" srcOrd="2" destOrd="0" presId="urn:microsoft.com/office/officeart/2005/8/layout/vList2"/>
    <dgm:cxn modelId="{4E6C9C7E-0089-174B-AB1F-D13CED8CC981}" type="presParOf" srcId="{9DFE0468-FA48-DA4F-8B5F-17634E31A955}" destId="{27E8257B-5D0C-464D-961E-BF2E76C1512D}" srcOrd="3" destOrd="0" presId="urn:microsoft.com/office/officeart/2005/8/layout/vList2"/>
    <dgm:cxn modelId="{F7A50FFC-7E0E-2847-8FF0-28DC1B153D47}" type="presParOf" srcId="{9DFE0468-FA48-DA4F-8B5F-17634E31A955}" destId="{4BCBD996-7D50-B54C-96D1-4FB3E3063D4F}" srcOrd="4" destOrd="0" presId="urn:microsoft.com/office/officeart/2005/8/layout/vList2"/>
    <dgm:cxn modelId="{5009B320-4EC0-294F-92ED-2D1AF3C56C28}" type="presParOf" srcId="{9DFE0468-FA48-DA4F-8B5F-17634E31A955}" destId="{60E3F888-A2EF-564A-BAF8-A78C1C1D2026}" srcOrd="5" destOrd="0" presId="urn:microsoft.com/office/officeart/2005/8/layout/vList2"/>
    <dgm:cxn modelId="{BC94C797-4497-DB47-AB9D-6CB6D19CB14D}" type="presParOf" srcId="{9DFE0468-FA48-DA4F-8B5F-17634E31A955}" destId="{76CCDE5C-3AA0-0743-A979-29F57FFB3BF2}"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450114-4AA5-4890-A3E9-5E716E5B4CEB}"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8656700F-E1B2-42A2-988F-360CBBEB70BA}">
      <dgm:prSet/>
      <dgm:spPr/>
      <dgm:t>
        <a:bodyPr/>
        <a:lstStyle/>
        <a:p>
          <a:r>
            <a:rPr lang="en-US"/>
            <a:t>Glucose and BMI were the strongest predictors in the final model</a:t>
          </a:r>
        </a:p>
      </dgm:t>
    </dgm:pt>
    <dgm:pt modelId="{AB41F70C-4EB4-482C-8C76-7C8902A08F2D}" type="parTrans" cxnId="{4222339C-D254-4D19-8E02-CD24A0B0982D}">
      <dgm:prSet/>
      <dgm:spPr/>
      <dgm:t>
        <a:bodyPr/>
        <a:lstStyle/>
        <a:p>
          <a:endParaRPr lang="en-US"/>
        </a:p>
      </dgm:t>
    </dgm:pt>
    <dgm:pt modelId="{234C8F3C-F611-4762-BF3B-D02F653AE61B}" type="sibTrans" cxnId="{4222339C-D254-4D19-8E02-CD24A0B0982D}">
      <dgm:prSet/>
      <dgm:spPr/>
      <dgm:t>
        <a:bodyPr/>
        <a:lstStyle/>
        <a:p>
          <a:endParaRPr lang="en-US"/>
        </a:p>
      </dgm:t>
    </dgm:pt>
    <dgm:pt modelId="{83EA87B0-4338-42CD-9C3B-24BECC786D6A}">
      <dgm:prSet/>
      <dgm:spPr/>
      <dgm:t>
        <a:bodyPr/>
        <a:lstStyle/>
        <a:p>
          <a:r>
            <a:rPr lang="en-US"/>
            <a:t>Higher glucose levels were clearly associated with increased diabetes risk</a:t>
          </a:r>
        </a:p>
      </dgm:t>
    </dgm:pt>
    <dgm:pt modelId="{418ED25D-CE26-4BEF-AD4D-D6831A349E39}" type="parTrans" cxnId="{BABD6ABE-C19D-4891-9D20-BA13E048EBC9}">
      <dgm:prSet/>
      <dgm:spPr/>
      <dgm:t>
        <a:bodyPr/>
        <a:lstStyle/>
        <a:p>
          <a:endParaRPr lang="en-US"/>
        </a:p>
      </dgm:t>
    </dgm:pt>
    <dgm:pt modelId="{E0B8EA78-7CB8-4485-9394-2C0A86B88989}" type="sibTrans" cxnId="{BABD6ABE-C19D-4891-9D20-BA13E048EBC9}">
      <dgm:prSet/>
      <dgm:spPr/>
      <dgm:t>
        <a:bodyPr/>
        <a:lstStyle/>
        <a:p>
          <a:endParaRPr lang="en-US"/>
        </a:p>
      </dgm:t>
    </dgm:pt>
    <dgm:pt modelId="{CC15F5F7-CD8E-4CCD-9C18-37C6605648A4}">
      <dgm:prSet/>
      <dgm:spPr/>
      <dgm:t>
        <a:bodyPr/>
        <a:lstStyle/>
        <a:p>
          <a:r>
            <a:rPr lang="en-US"/>
            <a:t>BMI also showed a meaningful difference between diabetic and non-diabetic groups</a:t>
          </a:r>
        </a:p>
      </dgm:t>
    </dgm:pt>
    <dgm:pt modelId="{4DEE811F-ED4E-40A3-AE61-B00DDF3808D7}" type="parTrans" cxnId="{C84F2E49-47C3-47E7-A932-F8AF6F034067}">
      <dgm:prSet/>
      <dgm:spPr/>
      <dgm:t>
        <a:bodyPr/>
        <a:lstStyle/>
        <a:p>
          <a:endParaRPr lang="en-US"/>
        </a:p>
      </dgm:t>
    </dgm:pt>
    <dgm:pt modelId="{5027FB73-05A5-4860-805E-B583BA5DDBCF}" type="sibTrans" cxnId="{C84F2E49-47C3-47E7-A932-F8AF6F034067}">
      <dgm:prSet/>
      <dgm:spPr/>
      <dgm:t>
        <a:bodyPr/>
        <a:lstStyle/>
        <a:p>
          <a:endParaRPr lang="en-US"/>
        </a:p>
      </dgm:t>
    </dgm:pt>
    <dgm:pt modelId="{24CECD3F-020C-4CD9-845F-9A109EBCC236}">
      <dgm:prSet/>
      <dgm:spPr/>
      <dgm:t>
        <a:bodyPr/>
        <a:lstStyle/>
        <a:p>
          <a:r>
            <a:rPr lang="en-US"/>
            <a:t>Feature importance and visualizations confirmed clinical relevance</a:t>
          </a:r>
        </a:p>
      </dgm:t>
    </dgm:pt>
    <dgm:pt modelId="{94490FD3-7899-4450-ABDD-2C5D49791B5B}" type="parTrans" cxnId="{EF7B7200-D08E-4741-AC00-695DE984F1EA}">
      <dgm:prSet/>
      <dgm:spPr/>
      <dgm:t>
        <a:bodyPr/>
        <a:lstStyle/>
        <a:p>
          <a:endParaRPr lang="en-US"/>
        </a:p>
      </dgm:t>
    </dgm:pt>
    <dgm:pt modelId="{C1BD275D-C78A-4A9D-B73A-2605B0937EA3}" type="sibTrans" cxnId="{EF7B7200-D08E-4741-AC00-695DE984F1EA}">
      <dgm:prSet/>
      <dgm:spPr/>
      <dgm:t>
        <a:bodyPr/>
        <a:lstStyle/>
        <a:p>
          <a:endParaRPr lang="en-US"/>
        </a:p>
      </dgm:t>
    </dgm:pt>
    <dgm:pt modelId="{281F6791-9A14-4943-A3E8-A7A04B68B946}" type="pres">
      <dgm:prSet presAssocID="{FE450114-4AA5-4890-A3E9-5E716E5B4CEB}" presName="diagram" presStyleCnt="0">
        <dgm:presLayoutVars>
          <dgm:dir/>
          <dgm:resizeHandles val="exact"/>
        </dgm:presLayoutVars>
      </dgm:prSet>
      <dgm:spPr/>
    </dgm:pt>
    <dgm:pt modelId="{7111A95C-6C97-1F40-86DE-FBE937DE11B0}" type="pres">
      <dgm:prSet presAssocID="{8656700F-E1B2-42A2-988F-360CBBEB70BA}" presName="node" presStyleLbl="node1" presStyleIdx="0" presStyleCnt="4">
        <dgm:presLayoutVars>
          <dgm:bulletEnabled val="1"/>
        </dgm:presLayoutVars>
      </dgm:prSet>
      <dgm:spPr/>
    </dgm:pt>
    <dgm:pt modelId="{7EBC14B3-B8B8-7C43-BCCC-40987D61E5DF}" type="pres">
      <dgm:prSet presAssocID="{234C8F3C-F611-4762-BF3B-D02F653AE61B}" presName="sibTrans" presStyleCnt="0"/>
      <dgm:spPr/>
    </dgm:pt>
    <dgm:pt modelId="{97C0B8F5-D5ED-8B48-ADB0-FD475C755DEE}" type="pres">
      <dgm:prSet presAssocID="{83EA87B0-4338-42CD-9C3B-24BECC786D6A}" presName="node" presStyleLbl="node1" presStyleIdx="1" presStyleCnt="4">
        <dgm:presLayoutVars>
          <dgm:bulletEnabled val="1"/>
        </dgm:presLayoutVars>
      </dgm:prSet>
      <dgm:spPr/>
    </dgm:pt>
    <dgm:pt modelId="{AF401034-DA70-2D4F-B2FB-C5DDDE58DC97}" type="pres">
      <dgm:prSet presAssocID="{E0B8EA78-7CB8-4485-9394-2C0A86B88989}" presName="sibTrans" presStyleCnt="0"/>
      <dgm:spPr/>
    </dgm:pt>
    <dgm:pt modelId="{1D78EE42-89B2-474D-A267-C8B9AB03ACAB}" type="pres">
      <dgm:prSet presAssocID="{CC15F5F7-CD8E-4CCD-9C18-37C6605648A4}" presName="node" presStyleLbl="node1" presStyleIdx="2" presStyleCnt="4">
        <dgm:presLayoutVars>
          <dgm:bulletEnabled val="1"/>
        </dgm:presLayoutVars>
      </dgm:prSet>
      <dgm:spPr/>
    </dgm:pt>
    <dgm:pt modelId="{68287872-F23D-244B-810A-C41ED7854B75}" type="pres">
      <dgm:prSet presAssocID="{5027FB73-05A5-4860-805E-B583BA5DDBCF}" presName="sibTrans" presStyleCnt="0"/>
      <dgm:spPr/>
    </dgm:pt>
    <dgm:pt modelId="{8CEE12D4-EFAE-024B-8B5F-59C3D093E5AA}" type="pres">
      <dgm:prSet presAssocID="{24CECD3F-020C-4CD9-845F-9A109EBCC236}" presName="node" presStyleLbl="node1" presStyleIdx="3" presStyleCnt="4">
        <dgm:presLayoutVars>
          <dgm:bulletEnabled val="1"/>
        </dgm:presLayoutVars>
      </dgm:prSet>
      <dgm:spPr/>
    </dgm:pt>
  </dgm:ptLst>
  <dgm:cxnLst>
    <dgm:cxn modelId="{EF7B7200-D08E-4741-AC00-695DE984F1EA}" srcId="{FE450114-4AA5-4890-A3E9-5E716E5B4CEB}" destId="{24CECD3F-020C-4CD9-845F-9A109EBCC236}" srcOrd="3" destOrd="0" parTransId="{94490FD3-7899-4450-ABDD-2C5D49791B5B}" sibTransId="{C1BD275D-C78A-4A9D-B73A-2605B0937EA3}"/>
    <dgm:cxn modelId="{AFDB5011-0BA6-DF42-A346-69AB4922E500}" type="presOf" srcId="{83EA87B0-4338-42CD-9C3B-24BECC786D6A}" destId="{97C0B8F5-D5ED-8B48-ADB0-FD475C755DEE}" srcOrd="0" destOrd="0" presId="urn:microsoft.com/office/officeart/2005/8/layout/default"/>
    <dgm:cxn modelId="{C84F2E49-47C3-47E7-A932-F8AF6F034067}" srcId="{FE450114-4AA5-4890-A3E9-5E716E5B4CEB}" destId="{CC15F5F7-CD8E-4CCD-9C18-37C6605648A4}" srcOrd="2" destOrd="0" parTransId="{4DEE811F-ED4E-40A3-AE61-B00DDF3808D7}" sibTransId="{5027FB73-05A5-4860-805E-B583BA5DDBCF}"/>
    <dgm:cxn modelId="{2507AD52-33B5-E846-9591-C11C6F79066C}" type="presOf" srcId="{CC15F5F7-CD8E-4CCD-9C18-37C6605648A4}" destId="{1D78EE42-89B2-474D-A267-C8B9AB03ACAB}" srcOrd="0" destOrd="0" presId="urn:microsoft.com/office/officeart/2005/8/layout/default"/>
    <dgm:cxn modelId="{3050465B-F88E-7340-BC8D-20A2BEFD56B2}" type="presOf" srcId="{24CECD3F-020C-4CD9-845F-9A109EBCC236}" destId="{8CEE12D4-EFAE-024B-8B5F-59C3D093E5AA}" srcOrd="0" destOrd="0" presId="urn:microsoft.com/office/officeart/2005/8/layout/default"/>
    <dgm:cxn modelId="{ACE12067-F70B-1844-B9ED-D9977D8CE7AF}" type="presOf" srcId="{8656700F-E1B2-42A2-988F-360CBBEB70BA}" destId="{7111A95C-6C97-1F40-86DE-FBE937DE11B0}" srcOrd="0" destOrd="0" presId="urn:microsoft.com/office/officeart/2005/8/layout/default"/>
    <dgm:cxn modelId="{4222339C-D254-4D19-8E02-CD24A0B0982D}" srcId="{FE450114-4AA5-4890-A3E9-5E716E5B4CEB}" destId="{8656700F-E1B2-42A2-988F-360CBBEB70BA}" srcOrd="0" destOrd="0" parTransId="{AB41F70C-4EB4-482C-8C76-7C8902A08F2D}" sibTransId="{234C8F3C-F611-4762-BF3B-D02F653AE61B}"/>
    <dgm:cxn modelId="{6F4DA4AA-F28B-4745-BBA8-35E0955DC1C2}" type="presOf" srcId="{FE450114-4AA5-4890-A3E9-5E716E5B4CEB}" destId="{281F6791-9A14-4943-A3E8-A7A04B68B946}" srcOrd="0" destOrd="0" presId="urn:microsoft.com/office/officeart/2005/8/layout/default"/>
    <dgm:cxn modelId="{BABD6ABE-C19D-4891-9D20-BA13E048EBC9}" srcId="{FE450114-4AA5-4890-A3E9-5E716E5B4CEB}" destId="{83EA87B0-4338-42CD-9C3B-24BECC786D6A}" srcOrd="1" destOrd="0" parTransId="{418ED25D-CE26-4BEF-AD4D-D6831A349E39}" sibTransId="{E0B8EA78-7CB8-4485-9394-2C0A86B88989}"/>
    <dgm:cxn modelId="{F59F58E2-86B0-4244-94B0-034E7B916A9F}" type="presParOf" srcId="{281F6791-9A14-4943-A3E8-A7A04B68B946}" destId="{7111A95C-6C97-1F40-86DE-FBE937DE11B0}" srcOrd="0" destOrd="0" presId="urn:microsoft.com/office/officeart/2005/8/layout/default"/>
    <dgm:cxn modelId="{6EF548C4-8151-5243-8953-01F950EE09AC}" type="presParOf" srcId="{281F6791-9A14-4943-A3E8-A7A04B68B946}" destId="{7EBC14B3-B8B8-7C43-BCCC-40987D61E5DF}" srcOrd="1" destOrd="0" presId="urn:microsoft.com/office/officeart/2005/8/layout/default"/>
    <dgm:cxn modelId="{B888BA5F-2D0E-1746-A27D-FFEE99C385C8}" type="presParOf" srcId="{281F6791-9A14-4943-A3E8-A7A04B68B946}" destId="{97C0B8F5-D5ED-8B48-ADB0-FD475C755DEE}" srcOrd="2" destOrd="0" presId="urn:microsoft.com/office/officeart/2005/8/layout/default"/>
    <dgm:cxn modelId="{9FA4242E-928B-204B-BC3E-CDCA48B7E344}" type="presParOf" srcId="{281F6791-9A14-4943-A3E8-A7A04B68B946}" destId="{AF401034-DA70-2D4F-B2FB-C5DDDE58DC97}" srcOrd="3" destOrd="0" presId="urn:microsoft.com/office/officeart/2005/8/layout/default"/>
    <dgm:cxn modelId="{5B5BA5BB-85FD-2C47-9A6C-4FC8B9F68196}" type="presParOf" srcId="{281F6791-9A14-4943-A3E8-A7A04B68B946}" destId="{1D78EE42-89B2-474D-A267-C8B9AB03ACAB}" srcOrd="4" destOrd="0" presId="urn:microsoft.com/office/officeart/2005/8/layout/default"/>
    <dgm:cxn modelId="{55CC6E53-F6AB-324C-85F2-4B33741CDE44}" type="presParOf" srcId="{281F6791-9A14-4943-A3E8-A7A04B68B946}" destId="{68287872-F23D-244B-810A-C41ED7854B75}" srcOrd="5" destOrd="0" presId="urn:microsoft.com/office/officeart/2005/8/layout/default"/>
    <dgm:cxn modelId="{D1831C15-78F5-244D-9443-D279009E67B5}" type="presParOf" srcId="{281F6791-9A14-4943-A3E8-A7A04B68B946}" destId="{8CEE12D4-EFAE-024B-8B5F-59C3D093E5AA}" srcOrd="6"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8DA250-AAFD-44B9-90B7-0EA3225AD7D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E983EF1-8E9B-4A6D-A20D-8100F647DBC9}">
      <dgm:prSet/>
      <dgm:spPr/>
      <dgm:t>
        <a:bodyPr/>
        <a:lstStyle/>
        <a:p>
          <a:r>
            <a:rPr lang="en-US" b="1"/>
            <a:t>Accuracy:</a:t>
          </a:r>
          <a:r>
            <a:rPr lang="en-US"/>
            <a:t> Overall correctness of the model</a:t>
          </a:r>
        </a:p>
      </dgm:t>
    </dgm:pt>
    <dgm:pt modelId="{BCBAAF8E-B74A-42FF-81A3-5A7365DD9A62}" type="parTrans" cxnId="{611FF9AA-3C14-476F-8F4C-C245339D9831}">
      <dgm:prSet/>
      <dgm:spPr/>
      <dgm:t>
        <a:bodyPr/>
        <a:lstStyle/>
        <a:p>
          <a:endParaRPr lang="en-US"/>
        </a:p>
      </dgm:t>
    </dgm:pt>
    <dgm:pt modelId="{047A4F7C-8C49-44F4-AB12-6461871AE7A0}" type="sibTrans" cxnId="{611FF9AA-3C14-476F-8F4C-C245339D9831}">
      <dgm:prSet/>
      <dgm:spPr/>
      <dgm:t>
        <a:bodyPr/>
        <a:lstStyle/>
        <a:p>
          <a:endParaRPr lang="en-US"/>
        </a:p>
      </dgm:t>
    </dgm:pt>
    <dgm:pt modelId="{D2E66653-B758-4C2D-9629-4112A9A73583}">
      <dgm:prSet/>
      <dgm:spPr/>
      <dgm:t>
        <a:bodyPr/>
        <a:lstStyle/>
        <a:p>
          <a:r>
            <a:rPr lang="en-US" b="1"/>
            <a:t>Precision:</a:t>
          </a:r>
          <a:r>
            <a:rPr lang="en-US"/>
            <a:t> How often positive predictions were correct</a:t>
          </a:r>
        </a:p>
      </dgm:t>
    </dgm:pt>
    <dgm:pt modelId="{D2056B19-8611-484B-8E91-511684A89768}" type="parTrans" cxnId="{D8A1E9B0-A90E-4198-81C8-DB53AC6E546D}">
      <dgm:prSet/>
      <dgm:spPr/>
      <dgm:t>
        <a:bodyPr/>
        <a:lstStyle/>
        <a:p>
          <a:endParaRPr lang="en-US"/>
        </a:p>
      </dgm:t>
    </dgm:pt>
    <dgm:pt modelId="{3F82939A-B126-4CBE-92D0-2ED72411DBD3}" type="sibTrans" cxnId="{D8A1E9B0-A90E-4198-81C8-DB53AC6E546D}">
      <dgm:prSet/>
      <dgm:spPr/>
      <dgm:t>
        <a:bodyPr/>
        <a:lstStyle/>
        <a:p>
          <a:endParaRPr lang="en-US"/>
        </a:p>
      </dgm:t>
    </dgm:pt>
    <dgm:pt modelId="{F26D518D-7B80-45DF-8E64-24891BF82AFB}">
      <dgm:prSet/>
      <dgm:spPr/>
      <dgm:t>
        <a:bodyPr/>
        <a:lstStyle/>
        <a:p>
          <a:r>
            <a:rPr lang="en-US" b="1"/>
            <a:t>Recall:</a:t>
          </a:r>
          <a:r>
            <a:rPr lang="en-US"/>
            <a:t> How well the model found actual positive cases</a:t>
          </a:r>
        </a:p>
      </dgm:t>
    </dgm:pt>
    <dgm:pt modelId="{B3D077A4-A965-446F-A55F-7BD781F613AD}" type="parTrans" cxnId="{E1920E25-C958-4B16-9C4B-2B48DE0781E1}">
      <dgm:prSet/>
      <dgm:spPr/>
      <dgm:t>
        <a:bodyPr/>
        <a:lstStyle/>
        <a:p>
          <a:endParaRPr lang="en-US"/>
        </a:p>
      </dgm:t>
    </dgm:pt>
    <dgm:pt modelId="{D97531A9-9910-4CA1-A6B7-4683BCB8E65F}" type="sibTrans" cxnId="{E1920E25-C958-4B16-9C4B-2B48DE0781E1}">
      <dgm:prSet/>
      <dgm:spPr/>
      <dgm:t>
        <a:bodyPr/>
        <a:lstStyle/>
        <a:p>
          <a:endParaRPr lang="en-US"/>
        </a:p>
      </dgm:t>
    </dgm:pt>
    <dgm:pt modelId="{3DB9E12D-EDC6-4F76-850F-D3D233B07203}">
      <dgm:prSet/>
      <dgm:spPr/>
      <dgm:t>
        <a:bodyPr/>
        <a:lstStyle/>
        <a:p>
          <a:r>
            <a:rPr lang="en-US" b="1"/>
            <a:t>F1-Score:</a:t>
          </a:r>
          <a:r>
            <a:rPr lang="en-US"/>
            <a:t> Balance between precision and recall</a:t>
          </a:r>
        </a:p>
      </dgm:t>
    </dgm:pt>
    <dgm:pt modelId="{B9B0EBE5-76CC-4A79-9607-618386E1759D}" type="parTrans" cxnId="{66E1D660-9E3B-4BDA-91C0-D30E87FF0775}">
      <dgm:prSet/>
      <dgm:spPr/>
      <dgm:t>
        <a:bodyPr/>
        <a:lstStyle/>
        <a:p>
          <a:endParaRPr lang="en-US"/>
        </a:p>
      </dgm:t>
    </dgm:pt>
    <dgm:pt modelId="{CE8CBCF7-9B32-4235-995B-B8CD24214283}" type="sibTrans" cxnId="{66E1D660-9E3B-4BDA-91C0-D30E87FF0775}">
      <dgm:prSet/>
      <dgm:spPr/>
      <dgm:t>
        <a:bodyPr/>
        <a:lstStyle/>
        <a:p>
          <a:endParaRPr lang="en-US"/>
        </a:p>
      </dgm:t>
    </dgm:pt>
    <dgm:pt modelId="{91A25E4F-F579-44B1-8784-EBECC445A5F5}">
      <dgm:prSet/>
      <dgm:spPr/>
      <dgm:t>
        <a:bodyPr/>
        <a:lstStyle/>
        <a:p>
          <a:r>
            <a:rPr lang="en-US" b="1"/>
            <a:t>ROC-AUC:</a:t>
          </a:r>
          <a:r>
            <a:rPr lang="en-US"/>
            <a:t> Measures how well the model separates classes</a:t>
          </a:r>
        </a:p>
      </dgm:t>
    </dgm:pt>
    <dgm:pt modelId="{9A0116D1-F575-4C72-960E-ACF61AF7B84D}" type="parTrans" cxnId="{02DE0C62-3EC6-405B-BC6E-3A70D2958FF6}">
      <dgm:prSet/>
      <dgm:spPr/>
      <dgm:t>
        <a:bodyPr/>
        <a:lstStyle/>
        <a:p>
          <a:endParaRPr lang="en-US"/>
        </a:p>
      </dgm:t>
    </dgm:pt>
    <dgm:pt modelId="{164F41AD-0C72-47B8-89B1-1D031B1BBFF3}" type="sibTrans" cxnId="{02DE0C62-3EC6-405B-BC6E-3A70D2958FF6}">
      <dgm:prSet/>
      <dgm:spPr/>
      <dgm:t>
        <a:bodyPr/>
        <a:lstStyle/>
        <a:p>
          <a:endParaRPr lang="en-US"/>
        </a:p>
      </dgm:t>
    </dgm:pt>
    <dgm:pt modelId="{80258C78-B5CC-4DB3-A561-A7D4E4468500}" type="pres">
      <dgm:prSet presAssocID="{E88DA250-AAFD-44B9-90B7-0EA3225AD7D3}" presName="root" presStyleCnt="0">
        <dgm:presLayoutVars>
          <dgm:dir/>
          <dgm:resizeHandles val="exact"/>
        </dgm:presLayoutVars>
      </dgm:prSet>
      <dgm:spPr/>
    </dgm:pt>
    <dgm:pt modelId="{EABF115E-07FD-4835-8D21-748195FFE389}" type="pres">
      <dgm:prSet presAssocID="{E88DA250-AAFD-44B9-90B7-0EA3225AD7D3}" presName="container" presStyleCnt="0">
        <dgm:presLayoutVars>
          <dgm:dir/>
          <dgm:resizeHandles val="exact"/>
        </dgm:presLayoutVars>
      </dgm:prSet>
      <dgm:spPr/>
    </dgm:pt>
    <dgm:pt modelId="{1FE1E35B-FFEE-42CF-9235-83E3E82B7EB5}" type="pres">
      <dgm:prSet presAssocID="{3E983EF1-8E9B-4A6D-A20D-8100F647DBC9}" presName="compNode" presStyleCnt="0"/>
      <dgm:spPr/>
    </dgm:pt>
    <dgm:pt modelId="{836ACA09-62C0-4A34-BE5E-62C9F7FE9CF9}" type="pres">
      <dgm:prSet presAssocID="{3E983EF1-8E9B-4A6D-A20D-8100F647DBC9}" presName="iconBgRect" presStyleLbl="bgShp" presStyleIdx="0" presStyleCnt="5"/>
      <dgm:spPr/>
    </dgm:pt>
    <dgm:pt modelId="{AE5A2494-66A2-4FEC-9AC9-78C1729F5322}" type="pres">
      <dgm:prSet presAssocID="{3E983EF1-8E9B-4A6D-A20D-8100F647DBC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952FBEA1-5580-4D1C-94AB-1CE7F468E7DB}" type="pres">
      <dgm:prSet presAssocID="{3E983EF1-8E9B-4A6D-A20D-8100F647DBC9}" presName="spaceRect" presStyleCnt="0"/>
      <dgm:spPr/>
    </dgm:pt>
    <dgm:pt modelId="{EB1F0EFB-E847-426D-885E-777F5B6DFC9B}" type="pres">
      <dgm:prSet presAssocID="{3E983EF1-8E9B-4A6D-A20D-8100F647DBC9}" presName="textRect" presStyleLbl="revTx" presStyleIdx="0" presStyleCnt="5">
        <dgm:presLayoutVars>
          <dgm:chMax val="1"/>
          <dgm:chPref val="1"/>
        </dgm:presLayoutVars>
      </dgm:prSet>
      <dgm:spPr/>
    </dgm:pt>
    <dgm:pt modelId="{053BBC4A-19FC-44E2-8E40-E74BE4CB29CF}" type="pres">
      <dgm:prSet presAssocID="{047A4F7C-8C49-44F4-AB12-6461871AE7A0}" presName="sibTrans" presStyleLbl="sibTrans2D1" presStyleIdx="0" presStyleCnt="0"/>
      <dgm:spPr/>
    </dgm:pt>
    <dgm:pt modelId="{68770BEC-5FD0-4193-B973-4C46391FF2BC}" type="pres">
      <dgm:prSet presAssocID="{D2E66653-B758-4C2D-9629-4112A9A73583}" presName="compNode" presStyleCnt="0"/>
      <dgm:spPr/>
    </dgm:pt>
    <dgm:pt modelId="{3BD0E4B2-B159-4BB6-BB34-55B219CCF67F}" type="pres">
      <dgm:prSet presAssocID="{D2E66653-B758-4C2D-9629-4112A9A73583}" presName="iconBgRect" presStyleLbl="bgShp" presStyleIdx="1" presStyleCnt="5"/>
      <dgm:spPr/>
    </dgm:pt>
    <dgm:pt modelId="{D7960BD3-8844-420A-B2A6-F95ED2A4850F}" type="pres">
      <dgm:prSet presAssocID="{D2E66653-B758-4C2D-9629-4112A9A7358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432031B-83B9-48A4-A7F6-14BEC3F32FEB}" type="pres">
      <dgm:prSet presAssocID="{D2E66653-B758-4C2D-9629-4112A9A73583}" presName="spaceRect" presStyleCnt="0"/>
      <dgm:spPr/>
    </dgm:pt>
    <dgm:pt modelId="{52B87D0F-E7CA-4C97-BED8-E9347359936C}" type="pres">
      <dgm:prSet presAssocID="{D2E66653-B758-4C2D-9629-4112A9A73583}" presName="textRect" presStyleLbl="revTx" presStyleIdx="1" presStyleCnt="5">
        <dgm:presLayoutVars>
          <dgm:chMax val="1"/>
          <dgm:chPref val="1"/>
        </dgm:presLayoutVars>
      </dgm:prSet>
      <dgm:spPr/>
    </dgm:pt>
    <dgm:pt modelId="{A746911C-A9CC-4829-8FB7-927AC1306830}" type="pres">
      <dgm:prSet presAssocID="{3F82939A-B126-4CBE-92D0-2ED72411DBD3}" presName="sibTrans" presStyleLbl="sibTrans2D1" presStyleIdx="0" presStyleCnt="0"/>
      <dgm:spPr/>
    </dgm:pt>
    <dgm:pt modelId="{EFBE2C30-59F5-48FA-A8C0-ABBF86539C7F}" type="pres">
      <dgm:prSet presAssocID="{F26D518D-7B80-45DF-8E64-24891BF82AFB}" presName="compNode" presStyleCnt="0"/>
      <dgm:spPr/>
    </dgm:pt>
    <dgm:pt modelId="{387E444E-1E08-4E25-9F1D-9C43833A842B}" type="pres">
      <dgm:prSet presAssocID="{F26D518D-7B80-45DF-8E64-24891BF82AFB}" presName="iconBgRect" presStyleLbl="bgShp" presStyleIdx="2" presStyleCnt="5"/>
      <dgm:spPr/>
    </dgm:pt>
    <dgm:pt modelId="{E594660C-A098-4A1A-A197-6A4670EEC626}" type="pres">
      <dgm:prSet presAssocID="{F26D518D-7B80-45DF-8E64-24891BF82AF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20AE2503-94FF-4DBE-8539-744235E80A65}" type="pres">
      <dgm:prSet presAssocID="{F26D518D-7B80-45DF-8E64-24891BF82AFB}" presName="spaceRect" presStyleCnt="0"/>
      <dgm:spPr/>
    </dgm:pt>
    <dgm:pt modelId="{ABE45574-8FE5-45C5-9C33-662A0FA5A7A4}" type="pres">
      <dgm:prSet presAssocID="{F26D518D-7B80-45DF-8E64-24891BF82AFB}" presName="textRect" presStyleLbl="revTx" presStyleIdx="2" presStyleCnt="5">
        <dgm:presLayoutVars>
          <dgm:chMax val="1"/>
          <dgm:chPref val="1"/>
        </dgm:presLayoutVars>
      </dgm:prSet>
      <dgm:spPr/>
    </dgm:pt>
    <dgm:pt modelId="{441CB831-92EB-43DE-A467-A8AB979E7372}" type="pres">
      <dgm:prSet presAssocID="{D97531A9-9910-4CA1-A6B7-4683BCB8E65F}" presName="sibTrans" presStyleLbl="sibTrans2D1" presStyleIdx="0" presStyleCnt="0"/>
      <dgm:spPr/>
    </dgm:pt>
    <dgm:pt modelId="{D54E29C7-BF06-449B-9598-D2F68E6562C2}" type="pres">
      <dgm:prSet presAssocID="{3DB9E12D-EDC6-4F76-850F-D3D233B07203}" presName="compNode" presStyleCnt="0"/>
      <dgm:spPr/>
    </dgm:pt>
    <dgm:pt modelId="{7B7E6C16-19F8-4131-ACC0-FAE58D8BBFAE}" type="pres">
      <dgm:prSet presAssocID="{3DB9E12D-EDC6-4F76-850F-D3D233B07203}" presName="iconBgRect" presStyleLbl="bgShp" presStyleIdx="3" presStyleCnt="5"/>
      <dgm:spPr/>
    </dgm:pt>
    <dgm:pt modelId="{EA0D02FE-D017-4447-92D9-392CE91046C7}" type="pres">
      <dgm:prSet presAssocID="{3DB9E12D-EDC6-4F76-850F-D3D233B0720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rawing Compass"/>
        </a:ext>
      </dgm:extLst>
    </dgm:pt>
    <dgm:pt modelId="{44E30C79-5C1E-4BED-B109-BF2D12F5FC18}" type="pres">
      <dgm:prSet presAssocID="{3DB9E12D-EDC6-4F76-850F-D3D233B07203}" presName="spaceRect" presStyleCnt="0"/>
      <dgm:spPr/>
    </dgm:pt>
    <dgm:pt modelId="{334F2AE6-4FFE-4B09-B8A4-EDA85863DCEB}" type="pres">
      <dgm:prSet presAssocID="{3DB9E12D-EDC6-4F76-850F-D3D233B07203}" presName="textRect" presStyleLbl="revTx" presStyleIdx="3" presStyleCnt="5">
        <dgm:presLayoutVars>
          <dgm:chMax val="1"/>
          <dgm:chPref val="1"/>
        </dgm:presLayoutVars>
      </dgm:prSet>
      <dgm:spPr/>
    </dgm:pt>
    <dgm:pt modelId="{4618F4CE-E72D-4EA0-B70E-6CF4DD5635B7}" type="pres">
      <dgm:prSet presAssocID="{CE8CBCF7-9B32-4235-995B-B8CD24214283}" presName="sibTrans" presStyleLbl="sibTrans2D1" presStyleIdx="0" presStyleCnt="0"/>
      <dgm:spPr/>
    </dgm:pt>
    <dgm:pt modelId="{34F18E8E-0163-4A3B-A6FE-8AB90E7889A0}" type="pres">
      <dgm:prSet presAssocID="{91A25E4F-F579-44B1-8784-EBECC445A5F5}" presName="compNode" presStyleCnt="0"/>
      <dgm:spPr/>
    </dgm:pt>
    <dgm:pt modelId="{6FD9275D-8719-404E-88DC-D832E6DDF981}" type="pres">
      <dgm:prSet presAssocID="{91A25E4F-F579-44B1-8784-EBECC445A5F5}" presName="iconBgRect" presStyleLbl="bgShp" presStyleIdx="4" presStyleCnt="5"/>
      <dgm:spPr/>
    </dgm:pt>
    <dgm:pt modelId="{1F473113-8568-40DA-A43D-9FA733D3110C}" type="pres">
      <dgm:prSet presAssocID="{91A25E4F-F579-44B1-8784-EBECC445A5F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ales of Justice"/>
        </a:ext>
      </dgm:extLst>
    </dgm:pt>
    <dgm:pt modelId="{820F88A9-BBF6-4662-B5C0-51344EEFAF37}" type="pres">
      <dgm:prSet presAssocID="{91A25E4F-F579-44B1-8784-EBECC445A5F5}" presName="spaceRect" presStyleCnt="0"/>
      <dgm:spPr/>
    </dgm:pt>
    <dgm:pt modelId="{2AA0751A-4F2D-4485-BF82-523256292CB5}" type="pres">
      <dgm:prSet presAssocID="{91A25E4F-F579-44B1-8784-EBECC445A5F5}" presName="textRect" presStyleLbl="revTx" presStyleIdx="4" presStyleCnt="5">
        <dgm:presLayoutVars>
          <dgm:chMax val="1"/>
          <dgm:chPref val="1"/>
        </dgm:presLayoutVars>
      </dgm:prSet>
      <dgm:spPr/>
    </dgm:pt>
  </dgm:ptLst>
  <dgm:cxnLst>
    <dgm:cxn modelId="{886E3B14-297E-4CC3-B138-8180FD1988F8}" type="presOf" srcId="{CE8CBCF7-9B32-4235-995B-B8CD24214283}" destId="{4618F4CE-E72D-4EA0-B70E-6CF4DD5635B7}" srcOrd="0" destOrd="0" presId="urn:microsoft.com/office/officeart/2018/2/layout/IconCircleList"/>
    <dgm:cxn modelId="{B7F13F15-556B-4469-BA89-A3C7F984004E}" type="presOf" srcId="{3E983EF1-8E9B-4A6D-A20D-8100F647DBC9}" destId="{EB1F0EFB-E847-426D-885E-777F5B6DFC9B}" srcOrd="0" destOrd="0" presId="urn:microsoft.com/office/officeart/2018/2/layout/IconCircleList"/>
    <dgm:cxn modelId="{E1920E25-C958-4B16-9C4B-2B48DE0781E1}" srcId="{E88DA250-AAFD-44B9-90B7-0EA3225AD7D3}" destId="{F26D518D-7B80-45DF-8E64-24891BF82AFB}" srcOrd="2" destOrd="0" parTransId="{B3D077A4-A965-446F-A55F-7BD781F613AD}" sibTransId="{D97531A9-9910-4CA1-A6B7-4683BCB8E65F}"/>
    <dgm:cxn modelId="{E0E6B536-567E-43B0-921E-02CB7B6C672B}" type="presOf" srcId="{047A4F7C-8C49-44F4-AB12-6461871AE7A0}" destId="{053BBC4A-19FC-44E2-8E40-E74BE4CB29CF}" srcOrd="0" destOrd="0" presId="urn:microsoft.com/office/officeart/2018/2/layout/IconCircleList"/>
    <dgm:cxn modelId="{109D5756-4B92-487A-B797-82C8C1A97777}" type="presOf" srcId="{3DB9E12D-EDC6-4F76-850F-D3D233B07203}" destId="{334F2AE6-4FFE-4B09-B8A4-EDA85863DCEB}" srcOrd="0" destOrd="0" presId="urn:microsoft.com/office/officeart/2018/2/layout/IconCircleList"/>
    <dgm:cxn modelId="{931BD356-8954-4A89-9DDA-6E5A787B6CF4}" type="presOf" srcId="{D97531A9-9910-4CA1-A6B7-4683BCB8E65F}" destId="{441CB831-92EB-43DE-A467-A8AB979E7372}" srcOrd="0" destOrd="0" presId="urn:microsoft.com/office/officeart/2018/2/layout/IconCircleList"/>
    <dgm:cxn modelId="{66E1D660-9E3B-4BDA-91C0-D30E87FF0775}" srcId="{E88DA250-AAFD-44B9-90B7-0EA3225AD7D3}" destId="{3DB9E12D-EDC6-4F76-850F-D3D233B07203}" srcOrd="3" destOrd="0" parTransId="{B9B0EBE5-76CC-4A79-9607-618386E1759D}" sibTransId="{CE8CBCF7-9B32-4235-995B-B8CD24214283}"/>
    <dgm:cxn modelId="{02DE0C62-3EC6-405B-BC6E-3A70D2958FF6}" srcId="{E88DA250-AAFD-44B9-90B7-0EA3225AD7D3}" destId="{91A25E4F-F579-44B1-8784-EBECC445A5F5}" srcOrd="4" destOrd="0" parTransId="{9A0116D1-F575-4C72-960E-ACF61AF7B84D}" sibTransId="{164F41AD-0C72-47B8-89B1-1D031B1BBFF3}"/>
    <dgm:cxn modelId="{C29D6468-89CC-4183-962F-301FB563075D}" type="presOf" srcId="{E88DA250-AAFD-44B9-90B7-0EA3225AD7D3}" destId="{80258C78-B5CC-4DB3-A561-A7D4E4468500}" srcOrd="0" destOrd="0" presId="urn:microsoft.com/office/officeart/2018/2/layout/IconCircleList"/>
    <dgm:cxn modelId="{BF6B2585-05A4-486F-9C37-C7B660A75DF3}" type="presOf" srcId="{91A25E4F-F579-44B1-8784-EBECC445A5F5}" destId="{2AA0751A-4F2D-4485-BF82-523256292CB5}" srcOrd="0" destOrd="0" presId="urn:microsoft.com/office/officeart/2018/2/layout/IconCircleList"/>
    <dgm:cxn modelId="{F4694D90-B1CF-47EB-9F51-C9EDAB82FE9B}" type="presOf" srcId="{3F82939A-B126-4CBE-92D0-2ED72411DBD3}" destId="{A746911C-A9CC-4829-8FB7-927AC1306830}" srcOrd="0" destOrd="0" presId="urn:microsoft.com/office/officeart/2018/2/layout/IconCircleList"/>
    <dgm:cxn modelId="{611FF9AA-3C14-476F-8F4C-C245339D9831}" srcId="{E88DA250-AAFD-44B9-90B7-0EA3225AD7D3}" destId="{3E983EF1-8E9B-4A6D-A20D-8100F647DBC9}" srcOrd="0" destOrd="0" parTransId="{BCBAAF8E-B74A-42FF-81A3-5A7365DD9A62}" sibTransId="{047A4F7C-8C49-44F4-AB12-6461871AE7A0}"/>
    <dgm:cxn modelId="{6BE53EAF-5C8E-4D24-A56A-474CE1BA3508}" type="presOf" srcId="{F26D518D-7B80-45DF-8E64-24891BF82AFB}" destId="{ABE45574-8FE5-45C5-9C33-662A0FA5A7A4}" srcOrd="0" destOrd="0" presId="urn:microsoft.com/office/officeart/2018/2/layout/IconCircleList"/>
    <dgm:cxn modelId="{D8A1E9B0-A90E-4198-81C8-DB53AC6E546D}" srcId="{E88DA250-AAFD-44B9-90B7-0EA3225AD7D3}" destId="{D2E66653-B758-4C2D-9629-4112A9A73583}" srcOrd="1" destOrd="0" parTransId="{D2056B19-8611-484B-8E91-511684A89768}" sibTransId="{3F82939A-B126-4CBE-92D0-2ED72411DBD3}"/>
    <dgm:cxn modelId="{40DD71BC-6DD6-4AF0-9074-E31BCE403102}" type="presOf" srcId="{D2E66653-B758-4C2D-9629-4112A9A73583}" destId="{52B87D0F-E7CA-4C97-BED8-E9347359936C}" srcOrd="0" destOrd="0" presId="urn:microsoft.com/office/officeart/2018/2/layout/IconCircleList"/>
    <dgm:cxn modelId="{08C3F442-FD54-471D-90D0-2EBE8B5163A7}" type="presParOf" srcId="{80258C78-B5CC-4DB3-A561-A7D4E4468500}" destId="{EABF115E-07FD-4835-8D21-748195FFE389}" srcOrd="0" destOrd="0" presId="urn:microsoft.com/office/officeart/2018/2/layout/IconCircleList"/>
    <dgm:cxn modelId="{472E4679-0FD2-4F65-AB11-2FF6B0E0D294}" type="presParOf" srcId="{EABF115E-07FD-4835-8D21-748195FFE389}" destId="{1FE1E35B-FFEE-42CF-9235-83E3E82B7EB5}" srcOrd="0" destOrd="0" presId="urn:microsoft.com/office/officeart/2018/2/layout/IconCircleList"/>
    <dgm:cxn modelId="{EB427459-CCFA-4822-9D00-5E48CA6FA86C}" type="presParOf" srcId="{1FE1E35B-FFEE-42CF-9235-83E3E82B7EB5}" destId="{836ACA09-62C0-4A34-BE5E-62C9F7FE9CF9}" srcOrd="0" destOrd="0" presId="urn:microsoft.com/office/officeart/2018/2/layout/IconCircleList"/>
    <dgm:cxn modelId="{66ABE2B1-0D7D-49A1-9ABE-DE96F6C06578}" type="presParOf" srcId="{1FE1E35B-FFEE-42CF-9235-83E3E82B7EB5}" destId="{AE5A2494-66A2-4FEC-9AC9-78C1729F5322}" srcOrd="1" destOrd="0" presId="urn:microsoft.com/office/officeart/2018/2/layout/IconCircleList"/>
    <dgm:cxn modelId="{6F7C64E8-BC95-4B3C-9CBA-49A35D8A6508}" type="presParOf" srcId="{1FE1E35B-FFEE-42CF-9235-83E3E82B7EB5}" destId="{952FBEA1-5580-4D1C-94AB-1CE7F468E7DB}" srcOrd="2" destOrd="0" presId="urn:microsoft.com/office/officeart/2018/2/layout/IconCircleList"/>
    <dgm:cxn modelId="{87F33F7E-0354-485D-B9BD-965EB29C412B}" type="presParOf" srcId="{1FE1E35B-FFEE-42CF-9235-83E3E82B7EB5}" destId="{EB1F0EFB-E847-426D-885E-777F5B6DFC9B}" srcOrd="3" destOrd="0" presId="urn:microsoft.com/office/officeart/2018/2/layout/IconCircleList"/>
    <dgm:cxn modelId="{03A2115A-74F3-4E5D-8C0F-55D9B92D6AE4}" type="presParOf" srcId="{EABF115E-07FD-4835-8D21-748195FFE389}" destId="{053BBC4A-19FC-44E2-8E40-E74BE4CB29CF}" srcOrd="1" destOrd="0" presId="urn:microsoft.com/office/officeart/2018/2/layout/IconCircleList"/>
    <dgm:cxn modelId="{044CAE17-458B-4232-A879-5232578998B3}" type="presParOf" srcId="{EABF115E-07FD-4835-8D21-748195FFE389}" destId="{68770BEC-5FD0-4193-B973-4C46391FF2BC}" srcOrd="2" destOrd="0" presId="urn:microsoft.com/office/officeart/2018/2/layout/IconCircleList"/>
    <dgm:cxn modelId="{58534ECA-9AEC-4B63-9B16-6DCD8322E786}" type="presParOf" srcId="{68770BEC-5FD0-4193-B973-4C46391FF2BC}" destId="{3BD0E4B2-B159-4BB6-BB34-55B219CCF67F}" srcOrd="0" destOrd="0" presId="urn:microsoft.com/office/officeart/2018/2/layout/IconCircleList"/>
    <dgm:cxn modelId="{ACE01CA6-5AA8-41E8-87C2-F0C5505E2F39}" type="presParOf" srcId="{68770BEC-5FD0-4193-B973-4C46391FF2BC}" destId="{D7960BD3-8844-420A-B2A6-F95ED2A4850F}" srcOrd="1" destOrd="0" presId="urn:microsoft.com/office/officeart/2018/2/layout/IconCircleList"/>
    <dgm:cxn modelId="{AF106F81-2FC0-42A7-9123-508D49C872F2}" type="presParOf" srcId="{68770BEC-5FD0-4193-B973-4C46391FF2BC}" destId="{7432031B-83B9-48A4-A7F6-14BEC3F32FEB}" srcOrd="2" destOrd="0" presId="urn:microsoft.com/office/officeart/2018/2/layout/IconCircleList"/>
    <dgm:cxn modelId="{A3F37E0B-96F2-4931-BF96-662146DE9598}" type="presParOf" srcId="{68770BEC-5FD0-4193-B973-4C46391FF2BC}" destId="{52B87D0F-E7CA-4C97-BED8-E9347359936C}" srcOrd="3" destOrd="0" presId="urn:microsoft.com/office/officeart/2018/2/layout/IconCircleList"/>
    <dgm:cxn modelId="{D733BD34-BE57-48DB-BB18-574B06D592B8}" type="presParOf" srcId="{EABF115E-07FD-4835-8D21-748195FFE389}" destId="{A746911C-A9CC-4829-8FB7-927AC1306830}" srcOrd="3" destOrd="0" presId="urn:microsoft.com/office/officeart/2018/2/layout/IconCircleList"/>
    <dgm:cxn modelId="{74C0E70A-D989-4A2F-8196-D89FE5435FE2}" type="presParOf" srcId="{EABF115E-07FD-4835-8D21-748195FFE389}" destId="{EFBE2C30-59F5-48FA-A8C0-ABBF86539C7F}" srcOrd="4" destOrd="0" presId="urn:microsoft.com/office/officeart/2018/2/layout/IconCircleList"/>
    <dgm:cxn modelId="{2322697C-0DE8-42B3-92D4-E9567CF14E66}" type="presParOf" srcId="{EFBE2C30-59F5-48FA-A8C0-ABBF86539C7F}" destId="{387E444E-1E08-4E25-9F1D-9C43833A842B}" srcOrd="0" destOrd="0" presId="urn:microsoft.com/office/officeart/2018/2/layout/IconCircleList"/>
    <dgm:cxn modelId="{0D54A4B5-3E52-404E-AA23-A18F8F169959}" type="presParOf" srcId="{EFBE2C30-59F5-48FA-A8C0-ABBF86539C7F}" destId="{E594660C-A098-4A1A-A197-6A4670EEC626}" srcOrd="1" destOrd="0" presId="urn:microsoft.com/office/officeart/2018/2/layout/IconCircleList"/>
    <dgm:cxn modelId="{6AA7D371-6852-472F-A03C-D571D62632AF}" type="presParOf" srcId="{EFBE2C30-59F5-48FA-A8C0-ABBF86539C7F}" destId="{20AE2503-94FF-4DBE-8539-744235E80A65}" srcOrd="2" destOrd="0" presId="urn:microsoft.com/office/officeart/2018/2/layout/IconCircleList"/>
    <dgm:cxn modelId="{C91F665A-7FFA-4C93-99DB-6906AF674BEA}" type="presParOf" srcId="{EFBE2C30-59F5-48FA-A8C0-ABBF86539C7F}" destId="{ABE45574-8FE5-45C5-9C33-662A0FA5A7A4}" srcOrd="3" destOrd="0" presId="urn:microsoft.com/office/officeart/2018/2/layout/IconCircleList"/>
    <dgm:cxn modelId="{96026E5B-40EB-4457-BD82-7A74B9ACD944}" type="presParOf" srcId="{EABF115E-07FD-4835-8D21-748195FFE389}" destId="{441CB831-92EB-43DE-A467-A8AB979E7372}" srcOrd="5" destOrd="0" presId="urn:microsoft.com/office/officeart/2018/2/layout/IconCircleList"/>
    <dgm:cxn modelId="{C8D88708-CAF9-404E-A9C3-4C09B12858A3}" type="presParOf" srcId="{EABF115E-07FD-4835-8D21-748195FFE389}" destId="{D54E29C7-BF06-449B-9598-D2F68E6562C2}" srcOrd="6" destOrd="0" presId="urn:microsoft.com/office/officeart/2018/2/layout/IconCircleList"/>
    <dgm:cxn modelId="{086DB417-FEE5-40CB-AB34-B958B4BED629}" type="presParOf" srcId="{D54E29C7-BF06-449B-9598-D2F68E6562C2}" destId="{7B7E6C16-19F8-4131-ACC0-FAE58D8BBFAE}" srcOrd="0" destOrd="0" presId="urn:microsoft.com/office/officeart/2018/2/layout/IconCircleList"/>
    <dgm:cxn modelId="{EC050C63-1206-4810-860B-422E12354E68}" type="presParOf" srcId="{D54E29C7-BF06-449B-9598-D2F68E6562C2}" destId="{EA0D02FE-D017-4447-92D9-392CE91046C7}" srcOrd="1" destOrd="0" presId="urn:microsoft.com/office/officeart/2018/2/layout/IconCircleList"/>
    <dgm:cxn modelId="{6F7B0CF3-95D8-4CD3-99DB-F95955B60910}" type="presParOf" srcId="{D54E29C7-BF06-449B-9598-D2F68E6562C2}" destId="{44E30C79-5C1E-4BED-B109-BF2D12F5FC18}" srcOrd="2" destOrd="0" presId="urn:microsoft.com/office/officeart/2018/2/layout/IconCircleList"/>
    <dgm:cxn modelId="{7FBA02BA-E300-4901-8580-E4F7FB42238D}" type="presParOf" srcId="{D54E29C7-BF06-449B-9598-D2F68E6562C2}" destId="{334F2AE6-4FFE-4B09-B8A4-EDA85863DCEB}" srcOrd="3" destOrd="0" presId="urn:microsoft.com/office/officeart/2018/2/layout/IconCircleList"/>
    <dgm:cxn modelId="{DB7D9DE5-F2A0-490D-9966-FD70B7D0BBA9}" type="presParOf" srcId="{EABF115E-07FD-4835-8D21-748195FFE389}" destId="{4618F4CE-E72D-4EA0-B70E-6CF4DD5635B7}" srcOrd="7" destOrd="0" presId="urn:microsoft.com/office/officeart/2018/2/layout/IconCircleList"/>
    <dgm:cxn modelId="{AB64FD5D-D329-403F-B64C-E9A5E6F12134}" type="presParOf" srcId="{EABF115E-07FD-4835-8D21-748195FFE389}" destId="{34F18E8E-0163-4A3B-A6FE-8AB90E7889A0}" srcOrd="8" destOrd="0" presId="urn:microsoft.com/office/officeart/2018/2/layout/IconCircleList"/>
    <dgm:cxn modelId="{CD66434D-9654-4A54-AB28-711729556158}" type="presParOf" srcId="{34F18E8E-0163-4A3B-A6FE-8AB90E7889A0}" destId="{6FD9275D-8719-404E-88DC-D832E6DDF981}" srcOrd="0" destOrd="0" presId="urn:microsoft.com/office/officeart/2018/2/layout/IconCircleList"/>
    <dgm:cxn modelId="{5B4664F2-6A8D-41FF-8BDC-5B59EBBFFA43}" type="presParOf" srcId="{34F18E8E-0163-4A3B-A6FE-8AB90E7889A0}" destId="{1F473113-8568-40DA-A43D-9FA733D3110C}" srcOrd="1" destOrd="0" presId="urn:microsoft.com/office/officeart/2018/2/layout/IconCircleList"/>
    <dgm:cxn modelId="{E8299F61-AFEE-4009-BF0F-076CB7A55F09}" type="presParOf" srcId="{34F18E8E-0163-4A3B-A6FE-8AB90E7889A0}" destId="{820F88A9-BBF6-4662-B5C0-51344EEFAF37}" srcOrd="2" destOrd="0" presId="urn:microsoft.com/office/officeart/2018/2/layout/IconCircleList"/>
    <dgm:cxn modelId="{0BD8E86A-4F01-44EA-94D7-347D48DCFF51}" type="presParOf" srcId="{34F18E8E-0163-4A3B-A6FE-8AB90E7889A0}" destId="{2AA0751A-4F2D-4485-BF82-523256292CB5}"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581860-AF5C-4FA8-A8DC-078E07EA0927}"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77D3AB9B-C9DE-405A-9BE8-DA897417B1A4}">
      <dgm:prSet/>
      <dgm:spPr/>
      <dgm:t>
        <a:bodyPr/>
        <a:lstStyle/>
        <a:p>
          <a:r>
            <a:rPr lang="en-US" b="1"/>
            <a:t>Random Forest was the most balanced model overall</a:t>
          </a:r>
          <a:endParaRPr lang="en-US"/>
        </a:p>
      </dgm:t>
    </dgm:pt>
    <dgm:pt modelId="{3C31CB77-D62E-428B-A906-D3F480632F2C}" type="parTrans" cxnId="{4B79A597-E20A-4128-8A9D-34E90BFD25A2}">
      <dgm:prSet/>
      <dgm:spPr/>
      <dgm:t>
        <a:bodyPr/>
        <a:lstStyle/>
        <a:p>
          <a:endParaRPr lang="en-US"/>
        </a:p>
      </dgm:t>
    </dgm:pt>
    <dgm:pt modelId="{4C574D1C-9D05-425B-9EA7-139BA58308E7}" type="sibTrans" cxnId="{4B79A597-E20A-4128-8A9D-34E90BFD25A2}">
      <dgm:prSet/>
      <dgm:spPr/>
      <dgm:t>
        <a:bodyPr/>
        <a:lstStyle/>
        <a:p>
          <a:endParaRPr lang="en-US"/>
        </a:p>
      </dgm:t>
    </dgm:pt>
    <dgm:pt modelId="{029530BB-9656-4800-8976-283EA221595B}">
      <dgm:prSet/>
      <dgm:spPr/>
      <dgm:t>
        <a:bodyPr/>
        <a:lstStyle/>
        <a:p>
          <a:r>
            <a:rPr lang="en-US"/>
            <a:t>Tied for the highest accuracy (77%)</a:t>
          </a:r>
        </a:p>
      </dgm:t>
    </dgm:pt>
    <dgm:pt modelId="{B083BD07-C468-4A23-8FD0-590E55BE2D3D}" type="parTrans" cxnId="{22C7E08F-A872-4F08-B30C-E051A3E98EE2}">
      <dgm:prSet/>
      <dgm:spPr/>
      <dgm:t>
        <a:bodyPr/>
        <a:lstStyle/>
        <a:p>
          <a:endParaRPr lang="en-US"/>
        </a:p>
      </dgm:t>
    </dgm:pt>
    <dgm:pt modelId="{AD1A562B-F49E-4FD8-83BD-878C42357F70}" type="sibTrans" cxnId="{22C7E08F-A872-4F08-B30C-E051A3E98EE2}">
      <dgm:prSet/>
      <dgm:spPr/>
      <dgm:t>
        <a:bodyPr/>
        <a:lstStyle/>
        <a:p>
          <a:endParaRPr lang="en-US"/>
        </a:p>
      </dgm:t>
    </dgm:pt>
    <dgm:pt modelId="{05D2070A-4FD6-4B04-9E2D-9D3EA99F11B3}">
      <dgm:prSet/>
      <dgm:spPr/>
      <dgm:t>
        <a:bodyPr/>
        <a:lstStyle/>
        <a:p>
          <a:r>
            <a:rPr lang="en-US"/>
            <a:t>Strong recall for identifying diabetic patients (69%)</a:t>
          </a:r>
        </a:p>
      </dgm:t>
    </dgm:pt>
    <dgm:pt modelId="{B23C97D1-B163-4F07-99FF-5A4D32925ED6}" type="parTrans" cxnId="{A69A5AAF-2A03-4BE0-965A-FDA6BD15C988}">
      <dgm:prSet/>
      <dgm:spPr/>
      <dgm:t>
        <a:bodyPr/>
        <a:lstStyle/>
        <a:p>
          <a:endParaRPr lang="en-US"/>
        </a:p>
      </dgm:t>
    </dgm:pt>
    <dgm:pt modelId="{91C466CB-9427-4D5B-8B99-11F3134921DD}" type="sibTrans" cxnId="{A69A5AAF-2A03-4BE0-965A-FDA6BD15C988}">
      <dgm:prSet/>
      <dgm:spPr/>
      <dgm:t>
        <a:bodyPr/>
        <a:lstStyle/>
        <a:p>
          <a:endParaRPr lang="en-US"/>
        </a:p>
      </dgm:t>
    </dgm:pt>
    <dgm:pt modelId="{988DCEAE-9BDC-451E-823B-78B49D9BE488}">
      <dgm:prSet/>
      <dgm:spPr/>
      <dgm:t>
        <a:bodyPr/>
        <a:lstStyle/>
        <a:p>
          <a:r>
            <a:rPr lang="en-US"/>
            <a:t>Balanced performance across all evaluation metrics</a:t>
          </a:r>
        </a:p>
      </dgm:t>
    </dgm:pt>
    <dgm:pt modelId="{869B0D73-9393-4355-9999-F67C5F9A9797}" type="parTrans" cxnId="{C51F4F41-0405-45BF-84E6-8403EE2C0D9C}">
      <dgm:prSet/>
      <dgm:spPr/>
      <dgm:t>
        <a:bodyPr/>
        <a:lstStyle/>
        <a:p>
          <a:endParaRPr lang="en-US"/>
        </a:p>
      </dgm:t>
    </dgm:pt>
    <dgm:pt modelId="{B7438612-1655-4D38-8F59-1F37A2382618}" type="sibTrans" cxnId="{C51F4F41-0405-45BF-84E6-8403EE2C0D9C}">
      <dgm:prSet/>
      <dgm:spPr/>
      <dgm:t>
        <a:bodyPr/>
        <a:lstStyle/>
        <a:p>
          <a:endParaRPr lang="en-US"/>
        </a:p>
      </dgm:t>
    </dgm:pt>
    <dgm:pt modelId="{FBEF7FE3-4C67-1F44-B9DD-ACA6C12B7C1B}" type="pres">
      <dgm:prSet presAssocID="{21581860-AF5C-4FA8-A8DC-078E07EA0927}" presName="outerComposite" presStyleCnt="0">
        <dgm:presLayoutVars>
          <dgm:chMax val="5"/>
          <dgm:dir/>
          <dgm:resizeHandles val="exact"/>
        </dgm:presLayoutVars>
      </dgm:prSet>
      <dgm:spPr/>
    </dgm:pt>
    <dgm:pt modelId="{DB83ABDA-FE61-9147-A1BA-87750FDB5C97}" type="pres">
      <dgm:prSet presAssocID="{21581860-AF5C-4FA8-A8DC-078E07EA0927}" presName="dummyMaxCanvas" presStyleCnt="0">
        <dgm:presLayoutVars/>
      </dgm:prSet>
      <dgm:spPr/>
    </dgm:pt>
    <dgm:pt modelId="{AEA3DD98-D515-3243-8992-A2EA5B7B8B2B}" type="pres">
      <dgm:prSet presAssocID="{21581860-AF5C-4FA8-A8DC-078E07EA0927}" presName="FourNodes_1" presStyleLbl="node1" presStyleIdx="0" presStyleCnt="4">
        <dgm:presLayoutVars>
          <dgm:bulletEnabled val="1"/>
        </dgm:presLayoutVars>
      </dgm:prSet>
      <dgm:spPr/>
    </dgm:pt>
    <dgm:pt modelId="{B5D5DFC3-C1D1-2E4D-B826-04E177FF62F5}" type="pres">
      <dgm:prSet presAssocID="{21581860-AF5C-4FA8-A8DC-078E07EA0927}" presName="FourNodes_2" presStyleLbl="node1" presStyleIdx="1" presStyleCnt="4">
        <dgm:presLayoutVars>
          <dgm:bulletEnabled val="1"/>
        </dgm:presLayoutVars>
      </dgm:prSet>
      <dgm:spPr/>
    </dgm:pt>
    <dgm:pt modelId="{14130280-8D64-3D43-8AAB-DF30A9B7DC24}" type="pres">
      <dgm:prSet presAssocID="{21581860-AF5C-4FA8-A8DC-078E07EA0927}" presName="FourNodes_3" presStyleLbl="node1" presStyleIdx="2" presStyleCnt="4">
        <dgm:presLayoutVars>
          <dgm:bulletEnabled val="1"/>
        </dgm:presLayoutVars>
      </dgm:prSet>
      <dgm:spPr/>
    </dgm:pt>
    <dgm:pt modelId="{F1E260CD-6C4B-B34B-86A6-CA5AA8E6A375}" type="pres">
      <dgm:prSet presAssocID="{21581860-AF5C-4FA8-A8DC-078E07EA0927}" presName="FourNodes_4" presStyleLbl="node1" presStyleIdx="3" presStyleCnt="4">
        <dgm:presLayoutVars>
          <dgm:bulletEnabled val="1"/>
        </dgm:presLayoutVars>
      </dgm:prSet>
      <dgm:spPr/>
    </dgm:pt>
    <dgm:pt modelId="{A4422400-269F-EA4F-9F0A-8DADA0056FAD}" type="pres">
      <dgm:prSet presAssocID="{21581860-AF5C-4FA8-A8DC-078E07EA0927}" presName="FourConn_1-2" presStyleLbl="fgAccFollowNode1" presStyleIdx="0" presStyleCnt="3">
        <dgm:presLayoutVars>
          <dgm:bulletEnabled val="1"/>
        </dgm:presLayoutVars>
      </dgm:prSet>
      <dgm:spPr/>
    </dgm:pt>
    <dgm:pt modelId="{CFEDEA00-6CDA-3148-BC4B-FB1636ABC4EF}" type="pres">
      <dgm:prSet presAssocID="{21581860-AF5C-4FA8-A8DC-078E07EA0927}" presName="FourConn_2-3" presStyleLbl="fgAccFollowNode1" presStyleIdx="1" presStyleCnt="3">
        <dgm:presLayoutVars>
          <dgm:bulletEnabled val="1"/>
        </dgm:presLayoutVars>
      </dgm:prSet>
      <dgm:spPr/>
    </dgm:pt>
    <dgm:pt modelId="{ECFEFD0C-07A2-0F44-BF0C-69ABDBC665AD}" type="pres">
      <dgm:prSet presAssocID="{21581860-AF5C-4FA8-A8DC-078E07EA0927}" presName="FourConn_3-4" presStyleLbl="fgAccFollowNode1" presStyleIdx="2" presStyleCnt="3">
        <dgm:presLayoutVars>
          <dgm:bulletEnabled val="1"/>
        </dgm:presLayoutVars>
      </dgm:prSet>
      <dgm:spPr/>
    </dgm:pt>
    <dgm:pt modelId="{150D88D3-38F2-CF44-AB89-304026DD7C1D}" type="pres">
      <dgm:prSet presAssocID="{21581860-AF5C-4FA8-A8DC-078E07EA0927}" presName="FourNodes_1_text" presStyleLbl="node1" presStyleIdx="3" presStyleCnt="4">
        <dgm:presLayoutVars>
          <dgm:bulletEnabled val="1"/>
        </dgm:presLayoutVars>
      </dgm:prSet>
      <dgm:spPr/>
    </dgm:pt>
    <dgm:pt modelId="{3F6C82AD-7B2A-B949-A872-97AC953D3824}" type="pres">
      <dgm:prSet presAssocID="{21581860-AF5C-4FA8-A8DC-078E07EA0927}" presName="FourNodes_2_text" presStyleLbl="node1" presStyleIdx="3" presStyleCnt="4">
        <dgm:presLayoutVars>
          <dgm:bulletEnabled val="1"/>
        </dgm:presLayoutVars>
      </dgm:prSet>
      <dgm:spPr/>
    </dgm:pt>
    <dgm:pt modelId="{15D427CB-A109-CA42-BEE7-2F6F7213B30F}" type="pres">
      <dgm:prSet presAssocID="{21581860-AF5C-4FA8-A8DC-078E07EA0927}" presName="FourNodes_3_text" presStyleLbl="node1" presStyleIdx="3" presStyleCnt="4">
        <dgm:presLayoutVars>
          <dgm:bulletEnabled val="1"/>
        </dgm:presLayoutVars>
      </dgm:prSet>
      <dgm:spPr/>
    </dgm:pt>
    <dgm:pt modelId="{8ED444F6-AEBB-CD43-A4DB-50D31EC387BF}" type="pres">
      <dgm:prSet presAssocID="{21581860-AF5C-4FA8-A8DC-078E07EA0927}" presName="FourNodes_4_text" presStyleLbl="node1" presStyleIdx="3" presStyleCnt="4">
        <dgm:presLayoutVars>
          <dgm:bulletEnabled val="1"/>
        </dgm:presLayoutVars>
      </dgm:prSet>
      <dgm:spPr/>
    </dgm:pt>
  </dgm:ptLst>
  <dgm:cxnLst>
    <dgm:cxn modelId="{A2E2F903-0A63-F945-8A35-5639C81B1F1F}" type="presOf" srcId="{05D2070A-4FD6-4B04-9E2D-9D3EA99F11B3}" destId="{14130280-8D64-3D43-8AAB-DF30A9B7DC24}" srcOrd="0" destOrd="0" presId="urn:microsoft.com/office/officeart/2005/8/layout/vProcess5"/>
    <dgm:cxn modelId="{2788F231-C657-0746-8EC3-D5C3DB30CECF}" type="presOf" srcId="{988DCEAE-9BDC-451E-823B-78B49D9BE488}" destId="{8ED444F6-AEBB-CD43-A4DB-50D31EC387BF}" srcOrd="1" destOrd="0" presId="urn:microsoft.com/office/officeart/2005/8/layout/vProcess5"/>
    <dgm:cxn modelId="{3E497D3A-1F7E-424D-908D-389D607166F4}" type="presOf" srcId="{4C574D1C-9D05-425B-9EA7-139BA58308E7}" destId="{A4422400-269F-EA4F-9F0A-8DADA0056FAD}" srcOrd="0" destOrd="0" presId="urn:microsoft.com/office/officeart/2005/8/layout/vProcess5"/>
    <dgm:cxn modelId="{C51F4F41-0405-45BF-84E6-8403EE2C0D9C}" srcId="{21581860-AF5C-4FA8-A8DC-078E07EA0927}" destId="{988DCEAE-9BDC-451E-823B-78B49D9BE488}" srcOrd="3" destOrd="0" parTransId="{869B0D73-9393-4355-9999-F67C5F9A9797}" sibTransId="{B7438612-1655-4D38-8F59-1F37A2382618}"/>
    <dgm:cxn modelId="{2519A85E-C019-E14C-81FF-F22CF9A742B2}" type="presOf" srcId="{77D3AB9B-C9DE-405A-9BE8-DA897417B1A4}" destId="{150D88D3-38F2-CF44-AB89-304026DD7C1D}" srcOrd="1" destOrd="0" presId="urn:microsoft.com/office/officeart/2005/8/layout/vProcess5"/>
    <dgm:cxn modelId="{2D972B6E-2A7A-CD4D-8A16-606714C8D5E7}" type="presOf" srcId="{988DCEAE-9BDC-451E-823B-78B49D9BE488}" destId="{F1E260CD-6C4B-B34B-86A6-CA5AA8E6A375}" srcOrd="0" destOrd="0" presId="urn:microsoft.com/office/officeart/2005/8/layout/vProcess5"/>
    <dgm:cxn modelId="{8EEB6A74-9755-1D47-BAD1-2419B1DBE795}" type="presOf" srcId="{05D2070A-4FD6-4B04-9E2D-9D3EA99F11B3}" destId="{15D427CB-A109-CA42-BEE7-2F6F7213B30F}" srcOrd="1" destOrd="0" presId="urn:microsoft.com/office/officeart/2005/8/layout/vProcess5"/>
    <dgm:cxn modelId="{0A93C47C-9A9B-4B4B-98E3-E46FEB1EAE62}" type="presOf" srcId="{029530BB-9656-4800-8976-283EA221595B}" destId="{3F6C82AD-7B2A-B949-A872-97AC953D3824}" srcOrd="1" destOrd="0" presId="urn:microsoft.com/office/officeart/2005/8/layout/vProcess5"/>
    <dgm:cxn modelId="{1107AC86-BCCB-4343-A714-15BD0144BAC3}" type="presOf" srcId="{21581860-AF5C-4FA8-A8DC-078E07EA0927}" destId="{FBEF7FE3-4C67-1F44-B9DD-ACA6C12B7C1B}" srcOrd="0" destOrd="0" presId="urn:microsoft.com/office/officeart/2005/8/layout/vProcess5"/>
    <dgm:cxn modelId="{22C7E08F-A872-4F08-B30C-E051A3E98EE2}" srcId="{21581860-AF5C-4FA8-A8DC-078E07EA0927}" destId="{029530BB-9656-4800-8976-283EA221595B}" srcOrd="1" destOrd="0" parTransId="{B083BD07-C468-4A23-8FD0-590E55BE2D3D}" sibTransId="{AD1A562B-F49E-4FD8-83BD-878C42357F70}"/>
    <dgm:cxn modelId="{4B79A597-E20A-4128-8A9D-34E90BFD25A2}" srcId="{21581860-AF5C-4FA8-A8DC-078E07EA0927}" destId="{77D3AB9B-C9DE-405A-9BE8-DA897417B1A4}" srcOrd="0" destOrd="0" parTransId="{3C31CB77-D62E-428B-A906-D3F480632F2C}" sibTransId="{4C574D1C-9D05-425B-9EA7-139BA58308E7}"/>
    <dgm:cxn modelId="{A69A5AAF-2A03-4BE0-965A-FDA6BD15C988}" srcId="{21581860-AF5C-4FA8-A8DC-078E07EA0927}" destId="{05D2070A-4FD6-4B04-9E2D-9D3EA99F11B3}" srcOrd="2" destOrd="0" parTransId="{B23C97D1-B163-4F07-99FF-5A4D32925ED6}" sibTransId="{91C466CB-9427-4D5B-8B99-11F3134921DD}"/>
    <dgm:cxn modelId="{4F0BEBC1-2E19-7F4C-9064-97283FB4F608}" type="presOf" srcId="{77D3AB9B-C9DE-405A-9BE8-DA897417B1A4}" destId="{AEA3DD98-D515-3243-8992-A2EA5B7B8B2B}" srcOrd="0" destOrd="0" presId="urn:microsoft.com/office/officeart/2005/8/layout/vProcess5"/>
    <dgm:cxn modelId="{29913EC5-B02B-FA4F-A3E8-7B8E3F4128AC}" type="presOf" srcId="{029530BB-9656-4800-8976-283EA221595B}" destId="{B5D5DFC3-C1D1-2E4D-B826-04E177FF62F5}" srcOrd="0" destOrd="0" presId="urn:microsoft.com/office/officeart/2005/8/layout/vProcess5"/>
    <dgm:cxn modelId="{38DB1BFE-91CA-964D-AEF8-0AF4FB1C4B55}" type="presOf" srcId="{91C466CB-9427-4D5B-8B99-11F3134921DD}" destId="{ECFEFD0C-07A2-0F44-BF0C-69ABDBC665AD}" srcOrd="0" destOrd="0" presId="urn:microsoft.com/office/officeart/2005/8/layout/vProcess5"/>
    <dgm:cxn modelId="{6F0848FE-6F9C-2C4F-A76F-42BEF6538CE0}" type="presOf" srcId="{AD1A562B-F49E-4FD8-83BD-878C42357F70}" destId="{CFEDEA00-6CDA-3148-BC4B-FB1636ABC4EF}" srcOrd="0" destOrd="0" presId="urn:microsoft.com/office/officeart/2005/8/layout/vProcess5"/>
    <dgm:cxn modelId="{8EA0B8DC-4A99-9041-9DDA-A8F52ED38BF3}" type="presParOf" srcId="{FBEF7FE3-4C67-1F44-B9DD-ACA6C12B7C1B}" destId="{DB83ABDA-FE61-9147-A1BA-87750FDB5C97}" srcOrd="0" destOrd="0" presId="urn:microsoft.com/office/officeart/2005/8/layout/vProcess5"/>
    <dgm:cxn modelId="{E79A73F0-D943-C24E-8B9C-3BD7C61C59DD}" type="presParOf" srcId="{FBEF7FE3-4C67-1F44-B9DD-ACA6C12B7C1B}" destId="{AEA3DD98-D515-3243-8992-A2EA5B7B8B2B}" srcOrd="1" destOrd="0" presId="urn:microsoft.com/office/officeart/2005/8/layout/vProcess5"/>
    <dgm:cxn modelId="{1DE5BD94-7286-514A-8050-1D020831EAE5}" type="presParOf" srcId="{FBEF7FE3-4C67-1F44-B9DD-ACA6C12B7C1B}" destId="{B5D5DFC3-C1D1-2E4D-B826-04E177FF62F5}" srcOrd="2" destOrd="0" presId="urn:microsoft.com/office/officeart/2005/8/layout/vProcess5"/>
    <dgm:cxn modelId="{CE5C5ECC-B939-E545-A8CD-27E521AEB2E7}" type="presParOf" srcId="{FBEF7FE3-4C67-1F44-B9DD-ACA6C12B7C1B}" destId="{14130280-8D64-3D43-8AAB-DF30A9B7DC24}" srcOrd="3" destOrd="0" presId="urn:microsoft.com/office/officeart/2005/8/layout/vProcess5"/>
    <dgm:cxn modelId="{6117DA6D-C03F-9943-8849-94C6A14C75A4}" type="presParOf" srcId="{FBEF7FE3-4C67-1F44-B9DD-ACA6C12B7C1B}" destId="{F1E260CD-6C4B-B34B-86A6-CA5AA8E6A375}" srcOrd="4" destOrd="0" presId="urn:microsoft.com/office/officeart/2005/8/layout/vProcess5"/>
    <dgm:cxn modelId="{2F0FD4B0-9372-2B4A-B47E-B0A6847095B3}" type="presParOf" srcId="{FBEF7FE3-4C67-1F44-B9DD-ACA6C12B7C1B}" destId="{A4422400-269F-EA4F-9F0A-8DADA0056FAD}" srcOrd="5" destOrd="0" presId="urn:microsoft.com/office/officeart/2005/8/layout/vProcess5"/>
    <dgm:cxn modelId="{3ED8D61D-7FBF-F841-8F79-3D80E7E924F8}" type="presParOf" srcId="{FBEF7FE3-4C67-1F44-B9DD-ACA6C12B7C1B}" destId="{CFEDEA00-6CDA-3148-BC4B-FB1636ABC4EF}" srcOrd="6" destOrd="0" presId="urn:microsoft.com/office/officeart/2005/8/layout/vProcess5"/>
    <dgm:cxn modelId="{1C9899D7-E89A-A940-A9FA-78C6863B8951}" type="presParOf" srcId="{FBEF7FE3-4C67-1F44-B9DD-ACA6C12B7C1B}" destId="{ECFEFD0C-07A2-0F44-BF0C-69ABDBC665AD}" srcOrd="7" destOrd="0" presId="urn:microsoft.com/office/officeart/2005/8/layout/vProcess5"/>
    <dgm:cxn modelId="{F078F8FC-FC78-884B-9397-128DC842D239}" type="presParOf" srcId="{FBEF7FE3-4C67-1F44-B9DD-ACA6C12B7C1B}" destId="{150D88D3-38F2-CF44-AB89-304026DD7C1D}" srcOrd="8" destOrd="0" presId="urn:microsoft.com/office/officeart/2005/8/layout/vProcess5"/>
    <dgm:cxn modelId="{105D1D96-42B8-0344-8A08-DB8E01486FE8}" type="presParOf" srcId="{FBEF7FE3-4C67-1F44-B9DD-ACA6C12B7C1B}" destId="{3F6C82AD-7B2A-B949-A872-97AC953D3824}" srcOrd="9" destOrd="0" presId="urn:microsoft.com/office/officeart/2005/8/layout/vProcess5"/>
    <dgm:cxn modelId="{9209FD5A-2DD3-974D-B2C4-FF5FEA28B397}" type="presParOf" srcId="{FBEF7FE3-4C67-1F44-B9DD-ACA6C12B7C1B}" destId="{15D427CB-A109-CA42-BEE7-2F6F7213B30F}" srcOrd="10" destOrd="0" presId="urn:microsoft.com/office/officeart/2005/8/layout/vProcess5"/>
    <dgm:cxn modelId="{543F12E8-71F6-8048-B215-4ACBB1E0CAC6}" type="presParOf" srcId="{FBEF7FE3-4C67-1F44-B9DD-ACA6C12B7C1B}" destId="{8ED444F6-AEBB-CD43-A4DB-50D31EC387BF}" srcOrd="11" destOrd="0" presId="urn:microsoft.com/office/officeart/2005/8/layout/vProcess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E4626DF-A474-4965-98CC-CA0D1E92C76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16077DD-001D-400E-AF81-93E4E626B1AA}">
      <dgm:prSet/>
      <dgm:spPr/>
      <dgm:t>
        <a:bodyPr/>
        <a:lstStyle/>
        <a:p>
          <a:r>
            <a:rPr lang="en-US"/>
            <a:t>Random Forest provided the best overall balance for predicting diabetes</a:t>
          </a:r>
        </a:p>
      </dgm:t>
    </dgm:pt>
    <dgm:pt modelId="{42F1EC52-F853-49A1-8828-621C6C50316C}" type="parTrans" cxnId="{E6DDFFBF-30B2-4C13-926C-6A4F0D955BBF}">
      <dgm:prSet/>
      <dgm:spPr/>
      <dgm:t>
        <a:bodyPr/>
        <a:lstStyle/>
        <a:p>
          <a:endParaRPr lang="en-US"/>
        </a:p>
      </dgm:t>
    </dgm:pt>
    <dgm:pt modelId="{2B2ED684-9C1F-4848-9039-9B961A0CFB53}" type="sibTrans" cxnId="{E6DDFFBF-30B2-4C13-926C-6A4F0D955BBF}">
      <dgm:prSet/>
      <dgm:spPr/>
      <dgm:t>
        <a:bodyPr/>
        <a:lstStyle/>
        <a:p>
          <a:endParaRPr lang="en-US"/>
        </a:p>
      </dgm:t>
    </dgm:pt>
    <dgm:pt modelId="{90BB2AD6-DBD8-411A-A6F7-B2C3B7B070C0}">
      <dgm:prSet/>
      <dgm:spPr/>
      <dgm:t>
        <a:bodyPr/>
        <a:lstStyle/>
        <a:p>
          <a:r>
            <a:rPr lang="en-US"/>
            <a:t>Glucose and BMI were the most influential features</a:t>
          </a:r>
        </a:p>
      </dgm:t>
    </dgm:pt>
    <dgm:pt modelId="{FB5128A7-E83A-43AE-AB72-C1CE1D5C647B}" type="parTrans" cxnId="{8F06EC41-6CD2-433E-8CC1-D545DB3A1049}">
      <dgm:prSet/>
      <dgm:spPr/>
      <dgm:t>
        <a:bodyPr/>
        <a:lstStyle/>
        <a:p>
          <a:endParaRPr lang="en-US"/>
        </a:p>
      </dgm:t>
    </dgm:pt>
    <dgm:pt modelId="{5D80EC00-CD05-42E2-842A-76A574605EB0}" type="sibTrans" cxnId="{8F06EC41-6CD2-433E-8CC1-D545DB3A1049}">
      <dgm:prSet/>
      <dgm:spPr/>
      <dgm:t>
        <a:bodyPr/>
        <a:lstStyle/>
        <a:p>
          <a:endParaRPr lang="en-US"/>
        </a:p>
      </dgm:t>
    </dgm:pt>
    <dgm:pt modelId="{FC5CD31E-9A18-41F4-A721-8F92CA81CF5A}">
      <dgm:prSet/>
      <dgm:spPr/>
      <dgm:t>
        <a:bodyPr/>
        <a:lstStyle/>
        <a:p>
          <a:r>
            <a:rPr lang="en-US"/>
            <a:t>Model results supported what is already known in clinical practice</a:t>
          </a:r>
        </a:p>
      </dgm:t>
    </dgm:pt>
    <dgm:pt modelId="{B13E033D-C139-474F-B579-EF39A8CAAD0D}" type="parTrans" cxnId="{D46F63F6-0F09-4D4C-80F4-3D1D10DA5522}">
      <dgm:prSet/>
      <dgm:spPr/>
      <dgm:t>
        <a:bodyPr/>
        <a:lstStyle/>
        <a:p>
          <a:endParaRPr lang="en-US"/>
        </a:p>
      </dgm:t>
    </dgm:pt>
    <dgm:pt modelId="{7911080D-82EA-41A4-AE35-952B2F8C7E7D}" type="sibTrans" cxnId="{D46F63F6-0F09-4D4C-80F4-3D1D10DA5522}">
      <dgm:prSet/>
      <dgm:spPr/>
      <dgm:t>
        <a:bodyPr/>
        <a:lstStyle/>
        <a:p>
          <a:endParaRPr lang="en-US"/>
        </a:p>
      </dgm:t>
    </dgm:pt>
    <dgm:pt modelId="{0B1C6A74-4F37-4AC8-A36A-98D6B58799CF}">
      <dgm:prSet/>
      <dgm:spPr/>
      <dgm:t>
        <a:bodyPr/>
        <a:lstStyle/>
        <a:p>
          <a:r>
            <a:rPr lang="en-US"/>
            <a:t>Predictive modeling can help identify high-risk patients earlier</a:t>
          </a:r>
        </a:p>
      </dgm:t>
    </dgm:pt>
    <dgm:pt modelId="{CB4D8F22-5412-49F2-BE7A-BEFE1431C895}" type="parTrans" cxnId="{AF0ABC49-DA0A-40A6-98F1-9F1BEB331F05}">
      <dgm:prSet/>
      <dgm:spPr/>
      <dgm:t>
        <a:bodyPr/>
        <a:lstStyle/>
        <a:p>
          <a:endParaRPr lang="en-US"/>
        </a:p>
      </dgm:t>
    </dgm:pt>
    <dgm:pt modelId="{CC0FEB73-BD36-47A8-8CCB-27AED5568286}" type="sibTrans" cxnId="{AF0ABC49-DA0A-40A6-98F1-9F1BEB331F05}">
      <dgm:prSet/>
      <dgm:spPr/>
      <dgm:t>
        <a:bodyPr/>
        <a:lstStyle/>
        <a:p>
          <a:endParaRPr lang="en-US"/>
        </a:p>
      </dgm:t>
    </dgm:pt>
    <dgm:pt modelId="{CD700294-8EC6-4A92-B779-7C2AA543A2C7}" type="pres">
      <dgm:prSet presAssocID="{AE4626DF-A474-4965-98CC-CA0D1E92C762}" presName="root" presStyleCnt="0">
        <dgm:presLayoutVars>
          <dgm:dir/>
          <dgm:resizeHandles val="exact"/>
        </dgm:presLayoutVars>
      </dgm:prSet>
      <dgm:spPr/>
    </dgm:pt>
    <dgm:pt modelId="{780FDBD0-F024-4C2A-811E-080C5BFBE639}" type="pres">
      <dgm:prSet presAssocID="{716077DD-001D-400E-AF81-93E4E626B1AA}" presName="compNode" presStyleCnt="0"/>
      <dgm:spPr/>
    </dgm:pt>
    <dgm:pt modelId="{27877E5F-59CD-40C1-A897-07AC6779F3DF}" type="pres">
      <dgm:prSet presAssocID="{716077DD-001D-400E-AF81-93E4E626B1AA}" presName="bgRect" presStyleLbl="bgShp" presStyleIdx="0" presStyleCnt="4"/>
      <dgm:spPr/>
    </dgm:pt>
    <dgm:pt modelId="{AE939BAD-B9C9-4A56-9467-33961EBB9222}" type="pres">
      <dgm:prSet presAssocID="{716077DD-001D-400E-AF81-93E4E626B1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umbs Up Sign"/>
        </a:ext>
      </dgm:extLst>
    </dgm:pt>
    <dgm:pt modelId="{9D21D273-E925-4807-9B5A-0A4A51CF771E}" type="pres">
      <dgm:prSet presAssocID="{716077DD-001D-400E-AF81-93E4E626B1AA}" presName="spaceRect" presStyleCnt="0"/>
      <dgm:spPr/>
    </dgm:pt>
    <dgm:pt modelId="{C7AA5DED-8A30-44DC-A4A8-F21FF5341849}" type="pres">
      <dgm:prSet presAssocID="{716077DD-001D-400E-AF81-93E4E626B1AA}" presName="parTx" presStyleLbl="revTx" presStyleIdx="0" presStyleCnt="4">
        <dgm:presLayoutVars>
          <dgm:chMax val="0"/>
          <dgm:chPref val="0"/>
        </dgm:presLayoutVars>
      </dgm:prSet>
      <dgm:spPr/>
    </dgm:pt>
    <dgm:pt modelId="{E96454F5-CBA3-4290-8E38-1FAF57C0AE62}" type="pres">
      <dgm:prSet presAssocID="{2B2ED684-9C1F-4848-9039-9B961A0CFB53}" presName="sibTrans" presStyleCnt="0"/>
      <dgm:spPr/>
    </dgm:pt>
    <dgm:pt modelId="{426B15D5-6C87-4C81-A1C5-4FCB58476682}" type="pres">
      <dgm:prSet presAssocID="{90BB2AD6-DBD8-411A-A6F7-B2C3B7B070C0}" presName="compNode" presStyleCnt="0"/>
      <dgm:spPr/>
    </dgm:pt>
    <dgm:pt modelId="{AF00E49E-8AEE-4C65-8957-1C43682A4B90}" type="pres">
      <dgm:prSet presAssocID="{90BB2AD6-DBD8-411A-A6F7-B2C3B7B070C0}" presName="bgRect" presStyleLbl="bgShp" presStyleIdx="1" presStyleCnt="4"/>
      <dgm:spPr/>
    </dgm:pt>
    <dgm:pt modelId="{5C367EC6-2AE8-4A6C-89BC-F2BB278FB283}" type="pres">
      <dgm:prSet presAssocID="{90BB2AD6-DBD8-411A-A6F7-B2C3B7B070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66B0FB1-2166-4DAD-AC1D-7A750C52C952}" type="pres">
      <dgm:prSet presAssocID="{90BB2AD6-DBD8-411A-A6F7-B2C3B7B070C0}" presName="spaceRect" presStyleCnt="0"/>
      <dgm:spPr/>
    </dgm:pt>
    <dgm:pt modelId="{E6496891-2354-4CAF-951F-B7C409ECB2E8}" type="pres">
      <dgm:prSet presAssocID="{90BB2AD6-DBD8-411A-A6F7-B2C3B7B070C0}" presName="parTx" presStyleLbl="revTx" presStyleIdx="1" presStyleCnt="4">
        <dgm:presLayoutVars>
          <dgm:chMax val="0"/>
          <dgm:chPref val="0"/>
        </dgm:presLayoutVars>
      </dgm:prSet>
      <dgm:spPr/>
    </dgm:pt>
    <dgm:pt modelId="{B6B66202-5B14-4C79-842B-DF542960CA05}" type="pres">
      <dgm:prSet presAssocID="{5D80EC00-CD05-42E2-842A-76A574605EB0}" presName="sibTrans" presStyleCnt="0"/>
      <dgm:spPr/>
    </dgm:pt>
    <dgm:pt modelId="{89F44F32-3A3E-427C-B7CC-72A415CEDFA6}" type="pres">
      <dgm:prSet presAssocID="{FC5CD31E-9A18-41F4-A721-8F92CA81CF5A}" presName="compNode" presStyleCnt="0"/>
      <dgm:spPr/>
    </dgm:pt>
    <dgm:pt modelId="{6A658C4A-60D8-421F-9AD9-AB991F09A188}" type="pres">
      <dgm:prSet presAssocID="{FC5CD31E-9A18-41F4-A721-8F92CA81CF5A}" presName="bgRect" presStyleLbl="bgShp" presStyleIdx="2" presStyleCnt="4"/>
      <dgm:spPr/>
    </dgm:pt>
    <dgm:pt modelId="{87E6B37D-23BE-4CD6-A3F5-E61557EA4D6D}" type="pres">
      <dgm:prSet presAssocID="{FC5CD31E-9A18-41F4-A721-8F92CA81CF5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18542E93-C0BA-4810-AEFC-618B91337D74}" type="pres">
      <dgm:prSet presAssocID="{FC5CD31E-9A18-41F4-A721-8F92CA81CF5A}" presName="spaceRect" presStyleCnt="0"/>
      <dgm:spPr/>
    </dgm:pt>
    <dgm:pt modelId="{347EBF43-3249-4DD5-A5CC-CBD761B9B3E8}" type="pres">
      <dgm:prSet presAssocID="{FC5CD31E-9A18-41F4-A721-8F92CA81CF5A}" presName="parTx" presStyleLbl="revTx" presStyleIdx="2" presStyleCnt="4">
        <dgm:presLayoutVars>
          <dgm:chMax val="0"/>
          <dgm:chPref val="0"/>
        </dgm:presLayoutVars>
      </dgm:prSet>
      <dgm:spPr/>
    </dgm:pt>
    <dgm:pt modelId="{D3119D2E-BA93-4070-9339-8F1E2BDDCFE6}" type="pres">
      <dgm:prSet presAssocID="{7911080D-82EA-41A4-AE35-952B2F8C7E7D}" presName="sibTrans" presStyleCnt="0"/>
      <dgm:spPr/>
    </dgm:pt>
    <dgm:pt modelId="{6D4ACC17-7024-4BEA-87BC-ECFE58A80452}" type="pres">
      <dgm:prSet presAssocID="{0B1C6A74-4F37-4AC8-A36A-98D6B58799CF}" presName="compNode" presStyleCnt="0"/>
      <dgm:spPr/>
    </dgm:pt>
    <dgm:pt modelId="{4E7A188E-9667-4A47-AB19-EB896662A1C2}" type="pres">
      <dgm:prSet presAssocID="{0B1C6A74-4F37-4AC8-A36A-98D6B58799CF}" presName="bgRect" presStyleLbl="bgShp" presStyleIdx="3" presStyleCnt="4"/>
      <dgm:spPr/>
    </dgm:pt>
    <dgm:pt modelId="{D77E9277-1603-4093-B173-8D1134777E2C}" type="pres">
      <dgm:prSet presAssocID="{0B1C6A74-4F37-4AC8-A36A-98D6B58799C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16565C2C-EF02-4A2A-A0CA-8E6E9B75BA83}" type="pres">
      <dgm:prSet presAssocID="{0B1C6A74-4F37-4AC8-A36A-98D6B58799CF}" presName="spaceRect" presStyleCnt="0"/>
      <dgm:spPr/>
    </dgm:pt>
    <dgm:pt modelId="{C1F5E021-FE78-4F24-A728-286C01263239}" type="pres">
      <dgm:prSet presAssocID="{0B1C6A74-4F37-4AC8-A36A-98D6B58799CF}" presName="parTx" presStyleLbl="revTx" presStyleIdx="3" presStyleCnt="4">
        <dgm:presLayoutVars>
          <dgm:chMax val="0"/>
          <dgm:chPref val="0"/>
        </dgm:presLayoutVars>
      </dgm:prSet>
      <dgm:spPr/>
    </dgm:pt>
  </dgm:ptLst>
  <dgm:cxnLst>
    <dgm:cxn modelId="{C38A2603-FE39-4FA5-967F-0F6BA9CC579C}" type="presOf" srcId="{FC5CD31E-9A18-41F4-A721-8F92CA81CF5A}" destId="{347EBF43-3249-4DD5-A5CC-CBD761B9B3E8}" srcOrd="0" destOrd="0" presId="urn:microsoft.com/office/officeart/2018/2/layout/IconVerticalSolidList"/>
    <dgm:cxn modelId="{8F06EC41-6CD2-433E-8CC1-D545DB3A1049}" srcId="{AE4626DF-A474-4965-98CC-CA0D1E92C762}" destId="{90BB2AD6-DBD8-411A-A6F7-B2C3B7B070C0}" srcOrd="1" destOrd="0" parTransId="{FB5128A7-E83A-43AE-AB72-C1CE1D5C647B}" sibTransId="{5D80EC00-CD05-42E2-842A-76A574605EB0}"/>
    <dgm:cxn modelId="{AF0ABC49-DA0A-40A6-98F1-9F1BEB331F05}" srcId="{AE4626DF-A474-4965-98CC-CA0D1E92C762}" destId="{0B1C6A74-4F37-4AC8-A36A-98D6B58799CF}" srcOrd="3" destOrd="0" parTransId="{CB4D8F22-5412-49F2-BE7A-BEFE1431C895}" sibTransId="{CC0FEB73-BD36-47A8-8CCB-27AED5568286}"/>
    <dgm:cxn modelId="{21082068-9E7B-4FD9-8C43-DF2E50030622}" type="presOf" srcId="{0B1C6A74-4F37-4AC8-A36A-98D6B58799CF}" destId="{C1F5E021-FE78-4F24-A728-286C01263239}" srcOrd="0" destOrd="0" presId="urn:microsoft.com/office/officeart/2018/2/layout/IconVerticalSolidList"/>
    <dgm:cxn modelId="{E2CAC274-F7BB-4724-AA47-B854D9DCB074}" type="presOf" srcId="{AE4626DF-A474-4965-98CC-CA0D1E92C762}" destId="{CD700294-8EC6-4A92-B779-7C2AA543A2C7}" srcOrd="0" destOrd="0" presId="urn:microsoft.com/office/officeart/2018/2/layout/IconVerticalSolidList"/>
    <dgm:cxn modelId="{E6D2BD95-4BD5-49DB-94B3-CC9B7248ED97}" type="presOf" srcId="{716077DD-001D-400E-AF81-93E4E626B1AA}" destId="{C7AA5DED-8A30-44DC-A4A8-F21FF5341849}" srcOrd="0" destOrd="0" presId="urn:microsoft.com/office/officeart/2018/2/layout/IconVerticalSolidList"/>
    <dgm:cxn modelId="{E6DDFFBF-30B2-4C13-926C-6A4F0D955BBF}" srcId="{AE4626DF-A474-4965-98CC-CA0D1E92C762}" destId="{716077DD-001D-400E-AF81-93E4E626B1AA}" srcOrd="0" destOrd="0" parTransId="{42F1EC52-F853-49A1-8828-621C6C50316C}" sibTransId="{2B2ED684-9C1F-4848-9039-9B961A0CFB53}"/>
    <dgm:cxn modelId="{D46F63F6-0F09-4D4C-80F4-3D1D10DA5522}" srcId="{AE4626DF-A474-4965-98CC-CA0D1E92C762}" destId="{FC5CD31E-9A18-41F4-A721-8F92CA81CF5A}" srcOrd="2" destOrd="0" parTransId="{B13E033D-C139-474F-B579-EF39A8CAAD0D}" sibTransId="{7911080D-82EA-41A4-AE35-952B2F8C7E7D}"/>
    <dgm:cxn modelId="{072369F7-F576-4DF5-BD32-8BD75462BF61}" type="presOf" srcId="{90BB2AD6-DBD8-411A-A6F7-B2C3B7B070C0}" destId="{E6496891-2354-4CAF-951F-B7C409ECB2E8}" srcOrd="0" destOrd="0" presId="urn:microsoft.com/office/officeart/2018/2/layout/IconVerticalSolidList"/>
    <dgm:cxn modelId="{DE8D98F9-7BE8-48CC-B6CE-5C1D5C9760AB}" type="presParOf" srcId="{CD700294-8EC6-4A92-B779-7C2AA543A2C7}" destId="{780FDBD0-F024-4C2A-811E-080C5BFBE639}" srcOrd="0" destOrd="0" presId="urn:microsoft.com/office/officeart/2018/2/layout/IconVerticalSolidList"/>
    <dgm:cxn modelId="{63AD6A6E-C37A-446D-BFF5-3A7650E52B65}" type="presParOf" srcId="{780FDBD0-F024-4C2A-811E-080C5BFBE639}" destId="{27877E5F-59CD-40C1-A897-07AC6779F3DF}" srcOrd="0" destOrd="0" presId="urn:microsoft.com/office/officeart/2018/2/layout/IconVerticalSolidList"/>
    <dgm:cxn modelId="{95247EAC-DE3C-42F9-8390-662AA43581BB}" type="presParOf" srcId="{780FDBD0-F024-4C2A-811E-080C5BFBE639}" destId="{AE939BAD-B9C9-4A56-9467-33961EBB9222}" srcOrd="1" destOrd="0" presId="urn:microsoft.com/office/officeart/2018/2/layout/IconVerticalSolidList"/>
    <dgm:cxn modelId="{F1502CD2-71D7-46EB-8942-A50977704D4D}" type="presParOf" srcId="{780FDBD0-F024-4C2A-811E-080C5BFBE639}" destId="{9D21D273-E925-4807-9B5A-0A4A51CF771E}" srcOrd="2" destOrd="0" presId="urn:microsoft.com/office/officeart/2018/2/layout/IconVerticalSolidList"/>
    <dgm:cxn modelId="{820C2F7F-C722-4A6A-ACFC-DD0FDED4F960}" type="presParOf" srcId="{780FDBD0-F024-4C2A-811E-080C5BFBE639}" destId="{C7AA5DED-8A30-44DC-A4A8-F21FF5341849}" srcOrd="3" destOrd="0" presId="urn:microsoft.com/office/officeart/2018/2/layout/IconVerticalSolidList"/>
    <dgm:cxn modelId="{0D4900AF-ADF9-439D-9D72-C11C30127D83}" type="presParOf" srcId="{CD700294-8EC6-4A92-B779-7C2AA543A2C7}" destId="{E96454F5-CBA3-4290-8E38-1FAF57C0AE62}" srcOrd="1" destOrd="0" presId="urn:microsoft.com/office/officeart/2018/2/layout/IconVerticalSolidList"/>
    <dgm:cxn modelId="{6DFDCAEC-32DD-4E80-B994-396B13F5395C}" type="presParOf" srcId="{CD700294-8EC6-4A92-B779-7C2AA543A2C7}" destId="{426B15D5-6C87-4C81-A1C5-4FCB58476682}" srcOrd="2" destOrd="0" presId="urn:microsoft.com/office/officeart/2018/2/layout/IconVerticalSolidList"/>
    <dgm:cxn modelId="{920B203A-61A0-47F6-90F2-7873A0E70550}" type="presParOf" srcId="{426B15D5-6C87-4C81-A1C5-4FCB58476682}" destId="{AF00E49E-8AEE-4C65-8957-1C43682A4B90}" srcOrd="0" destOrd="0" presId="urn:microsoft.com/office/officeart/2018/2/layout/IconVerticalSolidList"/>
    <dgm:cxn modelId="{4EFAB2F9-29CC-492F-9171-1805F5C5F367}" type="presParOf" srcId="{426B15D5-6C87-4C81-A1C5-4FCB58476682}" destId="{5C367EC6-2AE8-4A6C-89BC-F2BB278FB283}" srcOrd="1" destOrd="0" presId="urn:microsoft.com/office/officeart/2018/2/layout/IconVerticalSolidList"/>
    <dgm:cxn modelId="{29FB7D4A-34C4-44AA-9109-338F6D804588}" type="presParOf" srcId="{426B15D5-6C87-4C81-A1C5-4FCB58476682}" destId="{B66B0FB1-2166-4DAD-AC1D-7A750C52C952}" srcOrd="2" destOrd="0" presId="urn:microsoft.com/office/officeart/2018/2/layout/IconVerticalSolidList"/>
    <dgm:cxn modelId="{8AC6FF2E-0D4A-4476-9FBB-A563D1D63C32}" type="presParOf" srcId="{426B15D5-6C87-4C81-A1C5-4FCB58476682}" destId="{E6496891-2354-4CAF-951F-B7C409ECB2E8}" srcOrd="3" destOrd="0" presId="urn:microsoft.com/office/officeart/2018/2/layout/IconVerticalSolidList"/>
    <dgm:cxn modelId="{52921827-6DDD-4910-86FF-71ED0DB9E99F}" type="presParOf" srcId="{CD700294-8EC6-4A92-B779-7C2AA543A2C7}" destId="{B6B66202-5B14-4C79-842B-DF542960CA05}" srcOrd="3" destOrd="0" presId="urn:microsoft.com/office/officeart/2018/2/layout/IconVerticalSolidList"/>
    <dgm:cxn modelId="{69AB6E8C-A269-4070-9CEC-BC9DE24009E8}" type="presParOf" srcId="{CD700294-8EC6-4A92-B779-7C2AA543A2C7}" destId="{89F44F32-3A3E-427C-B7CC-72A415CEDFA6}" srcOrd="4" destOrd="0" presId="urn:microsoft.com/office/officeart/2018/2/layout/IconVerticalSolidList"/>
    <dgm:cxn modelId="{D03098A4-C1B6-4EE3-94F8-8962665BCBEA}" type="presParOf" srcId="{89F44F32-3A3E-427C-B7CC-72A415CEDFA6}" destId="{6A658C4A-60D8-421F-9AD9-AB991F09A188}" srcOrd="0" destOrd="0" presId="urn:microsoft.com/office/officeart/2018/2/layout/IconVerticalSolidList"/>
    <dgm:cxn modelId="{9545E031-3CED-408E-A328-F2C07B63E863}" type="presParOf" srcId="{89F44F32-3A3E-427C-B7CC-72A415CEDFA6}" destId="{87E6B37D-23BE-4CD6-A3F5-E61557EA4D6D}" srcOrd="1" destOrd="0" presId="urn:microsoft.com/office/officeart/2018/2/layout/IconVerticalSolidList"/>
    <dgm:cxn modelId="{D9657341-DEAA-402C-91EF-B84BC4FB56E9}" type="presParOf" srcId="{89F44F32-3A3E-427C-B7CC-72A415CEDFA6}" destId="{18542E93-C0BA-4810-AEFC-618B91337D74}" srcOrd="2" destOrd="0" presId="urn:microsoft.com/office/officeart/2018/2/layout/IconVerticalSolidList"/>
    <dgm:cxn modelId="{D2A23AA0-E110-460E-92D7-61F4885382B6}" type="presParOf" srcId="{89F44F32-3A3E-427C-B7CC-72A415CEDFA6}" destId="{347EBF43-3249-4DD5-A5CC-CBD761B9B3E8}" srcOrd="3" destOrd="0" presId="urn:microsoft.com/office/officeart/2018/2/layout/IconVerticalSolidList"/>
    <dgm:cxn modelId="{E7FC5691-119B-4DBB-AE39-6ABA44392C1A}" type="presParOf" srcId="{CD700294-8EC6-4A92-B779-7C2AA543A2C7}" destId="{D3119D2E-BA93-4070-9339-8F1E2BDDCFE6}" srcOrd="5" destOrd="0" presId="urn:microsoft.com/office/officeart/2018/2/layout/IconVerticalSolidList"/>
    <dgm:cxn modelId="{FB4EF12B-2D30-4E12-BD7A-45C54C5F75AB}" type="presParOf" srcId="{CD700294-8EC6-4A92-B779-7C2AA543A2C7}" destId="{6D4ACC17-7024-4BEA-87BC-ECFE58A80452}" srcOrd="6" destOrd="0" presId="urn:microsoft.com/office/officeart/2018/2/layout/IconVerticalSolidList"/>
    <dgm:cxn modelId="{0235897B-FF75-496F-9851-8041EB7CC381}" type="presParOf" srcId="{6D4ACC17-7024-4BEA-87BC-ECFE58A80452}" destId="{4E7A188E-9667-4A47-AB19-EB896662A1C2}" srcOrd="0" destOrd="0" presId="urn:microsoft.com/office/officeart/2018/2/layout/IconVerticalSolidList"/>
    <dgm:cxn modelId="{0DD875ED-F34A-4CB8-B8DB-6FDF6F6F411C}" type="presParOf" srcId="{6D4ACC17-7024-4BEA-87BC-ECFE58A80452}" destId="{D77E9277-1603-4093-B173-8D1134777E2C}" srcOrd="1" destOrd="0" presId="urn:microsoft.com/office/officeart/2018/2/layout/IconVerticalSolidList"/>
    <dgm:cxn modelId="{17B9EF3F-01A8-47C0-B93D-ADB0A1902B2D}" type="presParOf" srcId="{6D4ACC17-7024-4BEA-87BC-ECFE58A80452}" destId="{16565C2C-EF02-4A2A-A0CA-8E6E9B75BA83}" srcOrd="2" destOrd="0" presId="urn:microsoft.com/office/officeart/2018/2/layout/IconVerticalSolidList"/>
    <dgm:cxn modelId="{23D0C95F-CDEF-40EE-8395-FD5B3AD404CC}" type="presParOf" srcId="{6D4ACC17-7024-4BEA-87BC-ECFE58A80452}" destId="{C1F5E021-FE78-4F24-A728-286C01263239}"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2FDE7B2-20FC-41E1-AF10-2B2A25C430B4}"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A7A81F74-D176-4FC8-9A46-A5DF719B2FCC}">
      <dgm:prSet/>
      <dgm:spPr/>
      <dgm:t>
        <a:bodyPr/>
        <a:lstStyle/>
        <a:p>
          <a:r>
            <a:rPr lang="en-US"/>
            <a:t>Add</a:t>
          </a:r>
        </a:p>
      </dgm:t>
    </dgm:pt>
    <dgm:pt modelId="{3A22EE2A-99E7-48D7-BDC7-502514A2404E}" type="parTrans" cxnId="{ACA33996-779D-4422-9FFA-7021B91EAAE9}">
      <dgm:prSet/>
      <dgm:spPr/>
      <dgm:t>
        <a:bodyPr/>
        <a:lstStyle/>
        <a:p>
          <a:endParaRPr lang="en-US"/>
        </a:p>
      </dgm:t>
    </dgm:pt>
    <dgm:pt modelId="{F8278430-104C-4314-9129-E3216992B055}" type="sibTrans" cxnId="{ACA33996-779D-4422-9FFA-7021B91EAAE9}">
      <dgm:prSet/>
      <dgm:spPr/>
      <dgm:t>
        <a:bodyPr/>
        <a:lstStyle/>
        <a:p>
          <a:endParaRPr lang="en-US"/>
        </a:p>
      </dgm:t>
    </dgm:pt>
    <dgm:pt modelId="{5C3F1F45-CA34-47FB-B18E-C68D4B5346F0}">
      <dgm:prSet/>
      <dgm:spPr/>
      <dgm:t>
        <a:bodyPr/>
        <a:lstStyle/>
        <a:p>
          <a:r>
            <a:rPr lang="en-US"/>
            <a:t>Add new features (e.g., family history, lifestyle factors) or combine with additional datasets</a:t>
          </a:r>
        </a:p>
      </dgm:t>
    </dgm:pt>
    <dgm:pt modelId="{AE29F5FD-3C5E-4501-B0D4-3F51ECA6153A}" type="parTrans" cxnId="{8BF9725E-1A25-4548-A769-59C2BBAA60A0}">
      <dgm:prSet/>
      <dgm:spPr/>
      <dgm:t>
        <a:bodyPr/>
        <a:lstStyle/>
        <a:p>
          <a:endParaRPr lang="en-US"/>
        </a:p>
      </dgm:t>
    </dgm:pt>
    <dgm:pt modelId="{A760EBFE-C618-4D8F-B913-8DA0704F31AC}" type="sibTrans" cxnId="{8BF9725E-1A25-4548-A769-59C2BBAA60A0}">
      <dgm:prSet/>
      <dgm:spPr/>
      <dgm:t>
        <a:bodyPr/>
        <a:lstStyle/>
        <a:p>
          <a:endParaRPr lang="en-US"/>
        </a:p>
      </dgm:t>
    </dgm:pt>
    <dgm:pt modelId="{9743285F-CA4C-40E2-97CB-3A5908088165}">
      <dgm:prSet/>
      <dgm:spPr/>
      <dgm:t>
        <a:bodyPr/>
        <a:lstStyle/>
        <a:p>
          <a:r>
            <a:rPr lang="en-US"/>
            <a:t>Fine-tune</a:t>
          </a:r>
        </a:p>
      </dgm:t>
    </dgm:pt>
    <dgm:pt modelId="{D333B5AC-27B2-4CC8-97D8-5D0F74DBA0FB}" type="parTrans" cxnId="{0EBEBE67-81FB-41A1-91D0-3C1794E45064}">
      <dgm:prSet/>
      <dgm:spPr/>
      <dgm:t>
        <a:bodyPr/>
        <a:lstStyle/>
        <a:p>
          <a:endParaRPr lang="en-US"/>
        </a:p>
      </dgm:t>
    </dgm:pt>
    <dgm:pt modelId="{D28F4D84-720F-42D0-A61E-043F9E031B0D}" type="sibTrans" cxnId="{0EBEBE67-81FB-41A1-91D0-3C1794E45064}">
      <dgm:prSet/>
      <dgm:spPr/>
      <dgm:t>
        <a:bodyPr/>
        <a:lstStyle/>
        <a:p>
          <a:endParaRPr lang="en-US"/>
        </a:p>
      </dgm:t>
    </dgm:pt>
    <dgm:pt modelId="{AF1B8566-4D01-408A-A883-B266772B5329}">
      <dgm:prSet/>
      <dgm:spPr/>
      <dgm:t>
        <a:bodyPr/>
        <a:lstStyle/>
        <a:p>
          <a:r>
            <a:rPr lang="en-US"/>
            <a:t>Fine-tune model parameters to boost accuracy and reduce false predictions</a:t>
          </a:r>
        </a:p>
      </dgm:t>
    </dgm:pt>
    <dgm:pt modelId="{FC303630-CD79-4467-9125-22AAF83AA6E0}" type="parTrans" cxnId="{9A17774B-8BC4-460E-9A5F-33EDC169050E}">
      <dgm:prSet/>
      <dgm:spPr/>
      <dgm:t>
        <a:bodyPr/>
        <a:lstStyle/>
        <a:p>
          <a:endParaRPr lang="en-US"/>
        </a:p>
      </dgm:t>
    </dgm:pt>
    <dgm:pt modelId="{1B9C0330-8FF1-46DD-88D3-E3A0BB710B1B}" type="sibTrans" cxnId="{9A17774B-8BC4-460E-9A5F-33EDC169050E}">
      <dgm:prSet/>
      <dgm:spPr/>
      <dgm:t>
        <a:bodyPr/>
        <a:lstStyle/>
        <a:p>
          <a:endParaRPr lang="en-US"/>
        </a:p>
      </dgm:t>
    </dgm:pt>
    <dgm:pt modelId="{615C7E69-CAB0-4DAC-A774-7FDC44AF3945}">
      <dgm:prSet/>
      <dgm:spPr/>
      <dgm:t>
        <a:bodyPr/>
        <a:lstStyle/>
        <a:p>
          <a:r>
            <a:rPr lang="en-US"/>
            <a:t>Try</a:t>
          </a:r>
        </a:p>
      </dgm:t>
    </dgm:pt>
    <dgm:pt modelId="{45B5FCCD-4983-456D-B770-EA250C3266CA}" type="parTrans" cxnId="{9BB304BE-C3A1-4C00-8364-86C6DFB5AAB9}">
      <dgm:prSet/>
      <dgm:spPr/>
      <dgm:t>
        <a:bodyPr/>
        <a:lstStyle/>
        <a:p>
          <a:endParaRPr lang="en-US"/>
        </a:p>
      </dgm:t>
    </dgm:pt>
    <dgm:pt modelId="{D673A342-013B-4F37-A857-7A5C084B7080}" type="sibTrans" cxnId="{9BB304BE-C3A1-4C00-8364-86C6DFB5AAB9}">
      <dgm:prSet/>
      <dgm:spPr/>
      <dgm:t>
        <a:bodyPr/>
        <a:lstStyle/>
        <a:p>
          <a:endParaRPr lang="en-US"/>
        </a:p>
      </dgm:t>
    </dgm:pt>
    <dgm:pt modelId="{BFAD6238-BC72-4205-A546-E51B74B46F49}">
      <dgm:prSet/>
      <dgm:spPr/>
      <dgm:t>
        <a:bodyPr/>
        <a:lstStyle/>
        <a:p>
          <a:r>
            <a:rPr lang="en-US"/>
            <a:t>Try more advanced models like neural networks or support vector machines (SVM)</a:t>
          </a:r>
        </a:p>
      </dgm:t>
    </dgm:pt>
    <dgm:pt modelId="{A7B6C8BC-ED0A-4D7C-B0F4-55DBD519BEB6}" type="parTrans" cxnId="{B3F78191-CCF1-4DC8-8CBE-314C8E4ACCAD}">
      <dgm:prSet/>
      <dgm:spPr/>
      <dgm:t>
        <a:bodyPr/>
        <a:lstStyle/>
        <a:p>
          <a:endParaRPr lang="en-US"/>
        </a:p>
      </dgm:t>
    </dgm:pt>
    <dgm:pt modelId="{41C5C3A6-E489-4B6A-8884-983628F82085}" type="sibTrans" cxnId="{B3F78191-CCF1-4DC8-8CBE-314C8E4ACCAD}">
      <dgm:prSet/>
      <dgm:spPr/>
      <dgm:t>
        <a:bodyPr/>
        <a:lstStyle/>
        <a:p>
          <a:endParaRPr lang="en-US"/>
        </a:p>
      </dgm:t>
    </dgm:pt>
    <dgm:pt modelId="{50E985C5-9690-574A-81D5-AB1D94FDDFCF}" type="pres">
      <dgm:prSet presAssocID="{52FDE7B2-20FC-41E1-AF10-2B2A25C430B4}" presName="Name0" presStyleCnt="0">
        <dgm:presLayoutVars>
          <dgm:dir/>
          <dgm:animLvl val="lvl"/>
          <dgm:resizeHandles val="exact"/>
        </dgm:presLayoutVars>
      </dgm:prSet>
      <dgm:spPr/>
    </dgm:pt>
    <dgm:pt modelId="{41410889-D410-6E46-9217-386F96471476}" type="pres">
      <dgm:prSet presAssocID="{A7A81F74-D176-4FC8-9A46-A5DF719B2FCC}" presName="linNode" presStyleCnt="0"/>
      <dgm:spPr/>
    </dgm:pt>
    <dgm:pt modelId="{D157B4EB-8812-E943-B675-6736376314F9}" type="pres">
      <dgm:prSet presAssocID="{A7A81F74-D176-4FC8-9A46-A5DF719B2FCC}" presName="parentText" presStyleLbl="alignNode1" presStyleIdx="0" presStyleCnt="3">
        <dgm:presLayoutVars>
          <dgm:chMax val="1"/>
          <dgm:bulletEnabled/>
        </dgm:presLayoutVars>
      </dgm:prSet>
      <dgm:spPr/>
    </dgm:pt>
    <dgm:pt modelId="{30681BE5-2502-7844-B26F-163FE4A61A91}" type="pres">
      <dgm:prSet presAssocID="{A7A81F74-D176-4FC8-9A46-A5DF719B2FCC}" presName="descendantText" presStyleLbl="alignAccFollowNode1" presStyleIdx="0" presStyleCnt="3">
        <dgm:presLayoutVars>
          <dgm:bulletEnabled/>
        </dgm:presLayoutVars>
      </dgm:prSet>
      <dgm:spPr/>
    </dgm:pt>
    <dgm:pt modelId="{4457C3E1-5C7F-5447-A39B-7332C14C9A2F}" type="pres">
      <dgm:prSet presAssocID="{F8278430-104C-4314-9129-E3216992B055}" presName="sp" presStyleCnt="0"/>
      <dgm:spPr/>
    </dgm:pt>
    <dgm:pt modelId="{568C86F9-9C9C-B04A-A307-B43305A51A86}" type="pres">
      <dgm:prSet presAssocID="{9743285F-CA4C-40E2-97CB-3A5908088165}" presName="linNode" presStyleCnt="0"/>
      <dgm:spPr/>
    </dgm:pt>
    <dgm:pt modelId="{F35EB481-1637-6C45-85FD-16934D3C6CE5}" type="pres">
      <dgm:prSet presAssocID="{9743285F-CA4C-40E2-97CB-3A5908088165}" presName="parentText" presStyleLbl="alignNode1" presStyleIdx="1" presStyleCnt="3">
        <dgm:presLayoutVars>
          <dgm:chMax val="1"/>
          <dgm:bulletEnabled/>
        </dgm:presLayoutVars>
      </dgm:prSet>
      <dgm:spPr/>
    </dgm:pt>
    <dgm:pt modelId="{A7615853-124E-4342-80F7-F50B2DF3D042}" type="pres">
      <dgm:prSet presAssocID="{9743285F-CA4C-40E2-97CB-3A5908088165}" presName="descendantText" presStyleLbl="alignAccFollowNode1" presStyleIdx="1" presStyleCnt="3">
        <dgm:presLayoutVars>
          <dgm:bulletEnabled/>
        </dgm:presLayoutVars>
      </dgm:prSet>
      <dgm:spPr/>
    </dgm:pt>
    <dgm:pt modelId="{97832830-FC1D-AF4B-AD81-F3A737DAF500}" type="pres">
      <dgm:prSet presAssocID="{D28F4D84-720F-42D0-A61E-043F9E031B0D}" presName="sp" presStyleCnt="0"/>
      <dgm:spPr/>
    </dgm:pt>
    <dgm:pt modelId="{75B51303-C39D-D546-9FD6-3CD1C674CB9A}" type="pres">
      <dgm:prSet presAssocID="{615C7E69-CAB0-4DAC-A774-7FDC44AF3945}" presName="linNode" presStyleCnt="0"/>
      <dgm:spPr/>
    </dgm:pt>
    <dgm:pt modelId="{F6EEF204-8724-4246-9B6B-3E2C1B3C789D}" type="pres">
      <dgm:prSet presAssocID="{615C7E69-CAB0-4DAC-A774-7FDC44AF3945}" presName="parentText" presStyleLbl="alignNode1" presStyleIdx="2" presStyleCnt="3">
        <dgm:presLayoutVars>
          <dgm:chMax val="1"/>
          <dgm:bulletEnabled/>
        </dgm:presLayoutVars>
      </dgm:prSet>
      <dgm:spPr/>
    </dgm:pt>
    <dgm:pt modelId="{DE28A2D5-5938-EC48-A186-0029CDA58CE9}" type="pres">
      <dgm:prSet presAssocID="{615C7E69-CAB0-4DAC-A774-7FDC44AF3945}" presName="descendantText" presStyleLbl="alignAccFollowNode1" presStyleIdx="2" presStyleCnt="3">
        <dgm:presLayoutVars>
          <dgm:bulletEnabled/>
        </dgm:presLayoutVars>
      </dgm:prSet>
      <dgm:spPr/>
    </dgm:pt>
  </dgm:ptLst>
  <dgm:cxnLst>
    <dgm:cxn modelId="{8869CE1F-9632-6C4C-A78A-EEFA997F68F6}" type="presOf" srcId="{5C3F1F45-CA34-47FB-B18E-C68D4B5346F0}" destId="{30681BE5-2502-7844-B26F-163FE4A61A91}" srcOrd="0" destOrd="0" presId="urn:microsoft.com/office/officeart/2016/7/layout/VerticalSolidActionList"/>
    <dgm:cxn modelId="{BB178521-7A2D-8444-B7CE-E31E6302CEC1}" type="presOf" srcId="{52FDE7B2-20FC-41E1-AF10-2B2A25C430B4}" destId="{50E985C5-9690-574A-81D5-AB1D94FDDFCF}" srcOrd="0" destOrd="0" presId="urn:microsoft.com/office/officeart/2016/7/layout/VerticalSolidActionList"/>
    <dgm:cxn modelId="{9A17774B-8BC4-460E-9A5F-33EDC169050E}" srcId="{9743285F-CA4C-40E2-97CB-3A5908088165}" destId="{AF1B8566-4D01-408A-A883-B266772B5329}" srcOrd="0" destOrd="0" parTransId="{FC303630-CD79-4467-9125-22AAF83AA6E0}" sibTransId="{1B9C0330-8FF1-46DD-88D3-E3A0BB710B1B}"/>
    <dgm:cxn modelId="{8BF9725E-1A25-4548-A769-59C2BBAA60A0}" srcId="{A7A81F74-D176-4FC8-9A46-A5DF719B2FCC}" destId="{5C3F1F45-CA34-47FB-B18E-C68D4B5346F0}" srcOrd="0" destOrd="0" parTransId="{AE29F5FD-3C5E-4501-B0D4-3F51ECA6153A}" sibTransId="{A760EBFE-C618-4D8F-B913-8DA0704F31AC}"/>
    <dgm:cxn modelId="{0EBEBE67-81FB-41A1-91D0-3C1794E45064}" srcId="{52FDE7B2-20FC-41E1-AF10-2B2A25C430B4}" destId="{9743285F-CA4C-40E2-97CB-3A5908088165}" srcOrd="1" destOrd="0" parTransId="{D333B5AC-27B2-4CC8-97D8-5D0F74DBA0FB}" sibTransId="{D28F4D84-720F-42D0-A61E-043F9E031B0D}"/>
    <dgm:cxn modelId="{3EF13F6D-8208-EF4D-AAE7-E240049BD2A9}" type="presOf" srcId="{BFAD6238-BC72-4205-A546-E51B74B46F49}" destId="{DE28A2D5-5938-EC48-A186-0029CDA58CE9}" srcOrd="0" destOrd="0" presId="urn:microsoft.com/office/officeart/2016/7/layout/VerticalSolidActionList"/>
    <dgm:cxn modelId="{044F4F73-BF79-F14A-8416-7FC6DA933AFC}" type="presOf" srcId="{615C7E69-CAB0-4DAC-A774-7FDC44AF3945}" destId="{F6EEF204-8724-4246-9B6B-3E2C1B3C789D}" srcOrd="0" destOrd="0" presId="urn:microsoft.com/office/officeart/2016/7/layout/VerticalSolidActionList"/>
    <dgm:cxn modelId="{7F8C1278-0A84-2B49-91DB-6043DB726972}" type="presOf" srcId="{A7A81F74-D176-4FC8-9A46-A5DF719B2FCC}" destId="{D157B4EB-8812-E943-B675-6736376314F9}" srcOrd="0" destOrd="0" presId="urn:microsoft.com/office/officeart/2016/7/layout/VerticalSolidActionList"/>
    <dgm:cxn modelId="{B3F78191-CCF1-4DC8-8CBE-314C8E4ACCAD}" srcId="{615C7E69-CAB0-4DAC-A774-7FDC44AF3945}" destId="{BFAD6238-BC72-4205-A546-E51B74B46F49}" srcOrd="0" destOrd="0" parTransId="{A7B6C8BC-ED0A-4D7C-B0F4-55DBD519BEB6}" sibTransId="{41C5C3A6-E489-4B6A-8884-983628F82085}"/>
    <dgm:cxn modelId="{ACA33996-779D-4422-9FFA-7021B91EAAE9}" srcId="{52FDE7B2-20FC-41E1-AF10-2B2A25C430B4}" destId="{A7A81F74-D176-4FC8-9A46-A5DF719B2FCC}" srcOrd="0" destOrd="0" parTransId="{3A22EE2A-99E7-48D7-BDC7-502514A2404E}" sibTransId="{F8278430-104C-4314-9129-E3216992B055}"/>
    <dgm:cxn modelId="{9BB304BE-C3A1-4C00-8364-86C6DFB5AAB9}" srcId="{52FDE7B2-20FC-41E1-AF10-2B2A25C430B4}" destId="{615C7E69-CAB0-4DAC-A774-7FDC44AF3945}" srcOrd="2" destOrd="0" parTransId="{45B5FCCD-4983-456D-B770-EA250C3266CA}" sibTransId="{D673A342-013B-4F37-A857-7A5C084B7080}"/>
    <dgm:cxn modelId="{542DF1C1-5085-C44A-B201-E4325661B01C}" type="presOf" srcId="{9743285F-CA4C-40E2-97CB-3A5908088165}" destId="{F35EB481-1637-6C45-85FD-16934D3C6CE5}" srcOrd="0" destOrd="0" presId="urn:microsoft.com/office/officeart/2016/7/layout/VerticalSolidActionList"/>
    <dgm:cxn modelId="{E4AE2ACD-1B01-074A-AFC4-1E1501441F95}" type="presOf" srcId="{AF1B8566-4D01-408A-A883-B266772B5329}" destId="{A7615853-124E-4342-80F7-F50B2DF3D042}" srcOrd="0" destOrd="0" presId="urn:microsoft.com/office/officeart/2016/7/layout/VerticalSolidActionList"/>
    <dgm:cxn modelId="{AC2B5E21-C76E-4443-9244-9AB0E06E150A}" type="presParOf" srcId="{50E985C5-9690-574A-81D5-AB1D94FDDFCF}" destId="{41410889-D410-6E46-9217-386F96471476}" srcOrd="0" destOrd="0" presId="urn:microsoft.com/office/officeart/2016/7/layout/VerticalSolidActionList"/>
    <dgm:cxn modelId="{7A4940F1-37DE-794C-B9E4-F33FB6618CB8}" type="presParOf" srcId="{41410889-D410-6E46-9217-386F96471476}" destId="{D157B4EB-8812-E943-B675-6736376314F9}" srcOrd="0" destOrd="0" presId="urn:microsoft.com/office/officeart/2016/7/layout/VerticalSolidActionList"/>
    <dgm:cxn modelId="{C95C2091-EA9B-E34E-85A3-BBDD2A37C913}" type="presParOf" srcId="{41410889-D410-6E46-9217-386F96471476}" destId="{30681BE5-2502-7844-B26F-163FE4A61A91}" srcOrd="1" destOrd="0" presId="urn:microsoft.com/office/officeart/2016/7/layout/VerticalSolidActionList"/>
    <dgm:cxn modelId="{E64F1ED2-BB18-FB4F-94EB-A800E0554555}" type="presParOf" srcId="{50E985C5-9690-574A-81D5-AB1D94FDDFCF}" destId="{4457C3E1-5C7F-5447-A39B-7332C14C9A2F}" srcOrd="1" destOrd="0" presId="urn:microsoft.com/office/officeart/2016/7/layout/VerticalSolidActionList"/>
    <dgm:cxn modelId="{26DBE0C6-B4B1-B24E-9DDA-A962D9827BAA}" type="presParOf" srcId="{50E985C5-9690-574A-81D5-AB1D94FDDFCF}" destId="{568C86F9-9C9C-B04A-A307-B43305A51A86}" srcOrd="2" destOrd="0" presId="urn:microsoft.com/office/officeart/2016/7/layout/VerticalSolidActionList"/>
    <dgm:cxn modelId="{584A409A-1B9F-ED47-8F3B-860D6DD1F117}" type="presParOf" srcId="{568C86F9-9C9C-B04A-A307-B43305A51A86}" destId="{F35EB481-1637-6C45-85FD-16934D3C6CE5}" srcOrd="0" destOrd="0" presId="urn:microsoft.com/office/officeart/2016/7/layout/VerticalSolidActionList"/>
    <dgm:cxn modelId="{0E60B770-7FF8-AB46-BC13-BAE065BFA3A4}" type="presParOf" srcId="{568C86F9-9C9C-B04A-A307-B43305A51A86}" destId="{A7615853-124E-4342-80F7-F50B2DF3D042}" srcOrd="1" destOrd="0" presId="urn:microsoft.com/office/officeart/2016/7/layout/VerticalSolidActionList"/>
    <dgm:cxn modelId="{AEF6C251-0FC5-394E-84A5-3FD88FFA51A4}" type="presParOf" srcId="{50E985C5-9690-574A-81D5-AB1D94FDDFCF}" destId="{97832830-FC1D-AF4B-AD81-F3A737DAF500}" srcOrd="3" destOrd="0" presId="urn:microsoft.com/office/officeart/2016/7/layout/VerticalSolidActionList"/>
    <dgm:cxn modelId="{DC585922-5F43-4646-A965-BD76BA563362}" type="presParOf" srcId="{50E985C5-9690-574A-81D5-AB1D94FDDFCF}" destId="{75B51303-C39D-D546-9FD6-3CD1C674CB9A}" srcOrd="4" destOrd="0" presId="urn:microsoft.com/office/officeart/2016/7/layout/VerticalSolidActionList"/>
    <dgm:cxn modelId="{8DF04809-A59E-E74F-AF79-51F50894CE67}" type="presParOf" srcId="{75B51303-C39D-D546-9FD6-3CD1C674CB9A}" destId="{F6EEF204-8724-4246-9B6B-3E2C1B3C789D}" srcOrd="0" destOrd="0" presId="urn:microsoft.com/office/officeart/2016/7/layout/VerticalSolidActionList"/>
    <dgm:cxn modelId="{EDD16DC1-8694-784A-B45E-72B1E96EC4E0}" type="presParOf" srcId="{75B51303-C39D-D546-9FD6-3CD1C674CB9A}" destId="{DE28A2D5-5938-EC48-A186-0029CDA58CE9}" srcOrd="1" destOrd="0" presId="urn:microsoft.com/office/officeart/2016/7/layout/VerticalSolidAction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C71C6A-FD7C-445D-A53C-FDFB70B85A46}"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68A2DC4-FD8F-4C45-8E09-81D62EA27788}">
      <dgm:prSet/>
      <dgm:spPr/>
      <dgm:t>
        <a:bodyPr/>
        <a:lstStyle/>
        <a:p>
          <a:r>
            <a:rPr lang="en-US" b="1"/>
            <a:t>Python:</a:t>
          </a:r>
          <a:r>
            <a:rPr lang="en-US"/>
            <a:t> Main programming language used for all analysis</a:t>
          </a:r>
        </a:p>
      </dgm:t>
    </dgm:pt>
    <dgm:pt modelId="{FC756E26-13A2-4C55-8659-4063BE274CA9}" type="parTrans" cxnId="{49650718-0BA4-4744-A5B2-7C419AEF1927}">
      <dgm:prSet/>
      <dgm:spPr/>
      <dgm:t>
        <a:bodyPr/>
        <a:lstStyle/>
        <a:p>
          <a:endParaRPr lang="en-US"/>
        </a:p>
      </dgm:t>
    </dgm:pt>
    <dgm:pt modelId="{C8138043-AD6F-46AA-BA49-1AF912DFE2D4}" type="sibTrans" cxnId="{49650718-0BA4-4744-A5B2-7C419AEF1927}">
      <dgm:prSet/>
      <dgm:spPr/>
      <dgm:t>
        <a:bodyPr/>
        <a:lstStyle/>
        <a:p>
          <a:endParaRPr lang="en-US"/>
        </a:p>
      </dgm:t>
    </dgm:pt>
    <dgm:pt modelId="{F40AA516-5E85-47AF-8961-AA3EF8637200}">
      <dgm:prSet/>
      <dgm:spPr/>
      <dgm:t>
        <a:bodyPr/>
        <a:lstStyle/>
        <a:p>
          <a:r>
            <a:rPr lang="en-US" b="1"/>
            <a:t>Pandas &amp; NumPy:</a:t>
          </a:r>
          <a:r>
            <a:rPr lang="en-US"/>
            <a:t> For data cleaning, manipulation, and numerical operations</a:t>
          </a:r>
        </a:p>
      </dgm:t>
    </dgm:pt>
    <dgm:pt modelId="{20D42279-F1C8-4098-A18B-EE00F80F10E2}" type="parTrans" cxnId="{403DD7F5-8E14-4E08-9313-4D4124E9ADD5}">
      <dgm:prSet/>
      <dgm:spPr/>
      <dgm:t>
        <a:bodyPr/>
        <a:lstStyle/>
        <a:p>
          <a:endParaRPr lang="en-US"/>
        </a:p>
      </dgm:t>
    </dgm:pt>
    <dgm:pt modelId="{00701CC2-9302-4C31-B26B-551127CB712F}" type="sibTrans" cxnId="{403DD7F5-8E14-4E08-9313-4D4124E9ADD5}">
      <dgm:prSet/>
      <dgm:spPr/>
      <dgm:t>
        <a:bodyPr/>
        <a:lstStyle/>
        <a:p>
          <a:endParaRPr lang="en-US"/>
        </a:p>
      </dgm:t>
    </dgm:pt>
    <dgm:pt modelId="{50CE636F-8D41-449A-AFB4-7570F0FCED33}">
      <dgm:prSet/>
      <dgm:spPr/>
      <dgm:t>
        <a:bodyPr/>
        <a:lstStyle/>
        <a:p>
          <a:r>
            <a:rPr lang="en-US" b="1"/>
            <a:t>Scikit-learn:</a:t>
          </a:r>
          <a:r>
            <a:rPr lang="en-US"/>
            <a:t> For building, training, and evaluating machine learning models</a:t>
          </a:r>
        </a:p>
      </dgm:t>
    </dgm:pt>
    <dgm:pt modelId="{7407A77B-9ED7-4898-B16C-627D60DB81EC}" type="parTrans" cxnId="{610AA423-99FA-4090-97EC-8DCE3FFA6C57}">
      <dgm:prSet/>
      <dgm:spPr/>
      <dgm:t>
        <a:bodyPr/>
        <a:lstStyle/>
        <a:p>
          <a:endParaRPr lang="en-US"/>
        </a:p>
      </dgm:t>
    </dgm:pt>
    <dgm:pt modelId="{22384B6C-41D0-43AA-B3D5-8694FF298D3E}" type="sibTrans" cxnId="{610AA423-99FA-4090-97EC-8DCE3FFA6C57}">
      <dgm:prSet/>
      <dgm:spPr/>
      <dgm:t>
        <a:bodyPr/>
        <a:lstStyle/>
        <a:p>
          <a:endParaRPr lang="en-US"/>
        </a:p>
      </dgm:t>
    </dgm:pt>
    <dgm:pt modelId="{796797AE-1CFE-4094-A46D-E2572BB444B6}">
      <dgm:prSet/>
      <dgm:spPr/>
      <dgm:t>
        <a:bodyPr/>
        <a:lstStyle/>
        <a:p>
          <a:r>
            <a:rPr lang="en-US" b="1"/>
            <a:t>XGBoost:</a:t>
          </a:r>
          <a:r>
            <a:rPr lang="en-US"/>
            <a:t> For testing a gradient boosting model</a:t>
          </a:r>
        </a:p>
      </dgm:t>
    </dgm:pt>
    <dgm:pt modelId="{4E2553B8-4419-468D-BCF8-7ECC0755D829}" type="parTrans" cxnId="{40114081-C9FA-453A-87C6-F15C27B668A9}">
      <dgm:prSet/>
      <dgm:spPr/>
      <dgm:t>
        <a:bodyPr/>
        <a:lstStyle/>
        <a:p>
          <a:endParaRPr lang="en-US"/>
        </a:p>
      </dgm:t>
    </dgm:pt>
    <dgm:pt modelId="{1F6736FC-E4B0-4CD2-AA9C-A875932A06AE}" type="sibTrans" cxnId="{40114081-C9FA-453A-87C6-F15C27B668A9}">
      <dgm:prSet/>
      <dgm:spPr/>
      <dgm:t>
        <a:bodyPr/>
        <a:lstStyle/>
        <a:p>
          <a:endParaRPr lang="en-US"/>
        </a:p>
      </dgm:t>
    </dgm:pt>
    <dgm:pt modelId="{0CF47FFD-5320-48DB-81E1-297F3AD2B9B8}">
      <dgm:prSet/>
      <dgm:spPr/>
      <dgm:t>
        <a:bodyPr/>
        <a:lstStyle/>
        <a:p>
          <a:r>
            <a:rPr lang="en-US" b="1"/>
            <a:t>Seaborn &amp; Matplotlib:</a:t>
          </a:r>
          <a:r>
            <a:rPr lang="en-US"/>
            <a:t> For creating visualizations and exploring feature relationships</a:t>
          </a:r>
        </a:p>
      </dgm:t>
    </dgm:pt>
    <dgm:pt modelId="{7815AF20-7A0C-49EC-B105-2CC8750CF5C5}" type="parTrans" cxnId="{3219C712-0508-4DAE-A7E7-C5DCFC066677}">
      <dgm:prSet/>
      <dgm:spPr/>
      <dgm:t>
        <a:bodyPr/>
        <a:lstStyle/>
        <a:p>
          <a:endParaRPr lang="en-US"/>
        </a:p>
      </dgm:t>
    </dgm:pt>
    <dgm:pt modelId="{62B67AB2-40B2-4A50-B1D5-A35D423825B1}" type="sibTrans" cxnId="{3219C712-0508-4DAE-A7E7-C5DCFC066677}">
      <dgm:prSet/>
      <dgm:spPr/>
      <dgm:t>
        <a:bodyPr/>
        <a:lstStyle/>
        <a:p>
          <a:endParaRPr lang="en-US"/>
        </a:p>
      </dgm:t>
    </dgm:pt>
    <dgm:pt modelId="{61D415C4-BAFE-4B45-835F-787AB8EE6D24}">
      <dgm:prSet/>
      <dgm:spPr/>
      <dgm:t>
        <a:bodyPr/>
        <a:lstStyle/>
        <a:p>
          <a:r>
            <a:rPr lang="en-US" b="1"/>
            <a:t>Jupyter Notebook:</a:t>
          </a:r>
          <a:r>
            <a:rPr lang="en-US"/>
            <a:t> For organizing, running, and documenting all code and analysis</a:t>
          </a:r>
        </a:p>
      </dgm:t>
    </dgm:pt>
    <dgm:pt modelId="{CD1D9D2E-5749-45A1-B573-3873AEDF57A6}" type="parTrans" cxnId="{18888E59-7CAD-4AB4-8530-4E54459042E6}">
      <dgm:prSet/>
      <dgm:spPr/>
      <dgm:t>
        <a:bodyPr/>
        <a:lstStyle/>
        <a:p>
          <a:endParaRPr lang="en-US"/>
        </a:p>
      </dgm:t>
    </dgm:pt>
    <dgm:pt modelId="{AAE64F4A-9EF1-42BD-9C12-B3E5756887BE}" type="sibTrans" cxnId="{18888E59-7CAD-4AB4-8530-4E54459042E6}">
      <dgm:prSet/>
      <dgm:spPr/>
      <dgm:t>
        <a:bodyPr/>
        <a:lstStyle/>
        <a:p>
          <a:endParaRPr lang="en-US"/>
        </a:p>
      </dgm:t>
    </dgm:pt>
    <dgm:pt modelId="{B81E26E2-BBCE-4E4B-AFC6-48A22C2A5F38}" type="pres">
      <dgm:prSet presAssocID="{F2C71C6A-FD7C-445D-A53C-FDFB70B85A46}" presName="linear" presStyleCnt="0">
        <dgm:presLayoutVars>
          <dgm:animLvl val="lvl"/>
          <dgm:resizeHandles val="exact"/>
        </dgm:presLayoutVars>
      </dgm:prSet>
      <dgm:spPr/>
    </dgm:pt>
    <dgm:pt modelId="{FDDA300A-6CF8-FC46-BD0F-59330762521B}" type="pres">
      <dgm:prSet presAssocID="{068A2DC4-FD8F-4C45-8E09-81D62EA27788}" presName="parentText" presStyleLbl="node1" presStyleIdx="0" presStyleCnt="6">
        <dgm:presLayoutVars>
          <dgm:chMax val="0"/>
          <dgm:bulletEnabled val="1"/>
        </dgm:presLayoutVars>
      </dgm:prSet>
      <dgm:spPr/>
    </dgm:pt>
    <dgm:pt modelId="{13237644-A75A-2D4D-8726-5653DFF611F0}" type="pres">
      <dgm:prSet presAssocID="{C8138043-AD6F-46AA-BA49-1AF912DFE2D4}" presName="spacer" presStyleCnt="0"/>
      <dgm:spPr/>
    </dgm:pt>
    <dgm:pt modelId="{0A89C149-0FC6-CB45-9189-CC623E944543}" type="pres">
      <dgm:prSet presAssocID="{F40AA516-5E85-47AF-8961-AA3EF8637200}" presName="parentText" presStyleLbl="node1" presStyleIdx="1" presStyleCnt="6">
        <dgm:presLayoutVars>
          <dgm:chMax val="0"/>
          <dgm:bulletEnabled val="1"/>
        </dgm:presLayoutVars>
      </dgm:prSet>
      <dgm:spPr/>
    </dgm:pt>
    <dgm:pt modelId="{778E4B54-56A0-5147-BC7C-74358B5E2EF6}" type="pres">
      <dgm:prSet presAssocID="{00701CC2-9302-4C31-B26B-551127CB712F}" presName="spacer" presStyleCnt="0"/>
      <dgm:spPr/>
    </dgm:pt>
    <dgm:pt modelId="{D738A604-4515-F446-B489-611B40320E18}" type="pres">
      <dgm:prSet presAssocID="{50CE636F-8D41-449A-AFB4-7570F0FCED33}" presName="parentText" presStyleLbl="node1" presStyleIdx="2" presStyleCnt="6">
        <dgm:presLayoutVars>
          <dgm:chMax val="0"/>
          <dgm:bulletEnabled val="1"/>
        </dgm:presLayoutVars>
      </dgm:prSet>
      <dgm:spPr/>
    </dgm:pt>
    <dgm:pt modelId="{54BD3D3D-E5B2-F641-BC79-02099D6E3300}" type="pres">
      <dgm:prSet presAssocID="{22384B6C-41D0-43AA-B3D5-8694FF298D3E}" presName="spacer" presStyleCnt="0"/>
      <dgm:spPr/>
    </dgm:pt>
    <dgm:pt modelId="{CCE6CB35-665F-0A46-82D3-39CD6A936B8A}" type="pres">
      <dgm:prSet presAssocID="{796797AE-1CFE-4094-A46D-E2572BB444B6}" presName="parentText" presStyleLbl="node1" presStyleIdx="3" presStyleCnt="6">
        <dgm:presLayoutVars>
          <dgm:chMax val="0"/>
          <dgm:bulletEnabled val="1"/>
        </dgm:presLayoutVars>
      </dgm:prSet>
      <dgm:spPr/>
    </dgm:pt>
    <dgm:pt modelId="{204582C3-6DA8-E344-A523-ABB0398F7E09}" type="pres">
      <dgm:prSet presAssocID="{1F6736FC-E4B0-4CD2-AA9C-A875932A06AE}" presName="spacer" presStyleCnt="0"/>
      <dgm:spPr/>
    </dgm:pt>
    <dgm:pt modelId="{7BCBFD8A-DE4C-484A-B3D9-610B55D46661}" type="pres">
      <dgm:prSet presAssocID="{0CF47FFD-5320-48DB-81E1-297F3AD2B9B8}" presName="parentText" presStyleLbl="node1" presStyleIdx="4" presStyleCnt="6">
        <dgm:presLayoutVars>
          <dgm:chMax val="0"/>
          <dgm:bulletEnabled val="1"/>
        </dgm:presLayoutVars>
      </dgm:prSet>
      <dgm:spPr/>
    </dgm:pt>
    <dgm:pt modelId="{1F122D23-ED2B-2C42-8634-9A7ABD797865}" type="pres">
      <dgm:prSet presAssocID="{62B67AB2-40B2-4A50-B1D5-A35D423825B1}" presName="spacer" presStyleCnt="0"/>
      <dgm:spPr/>
    </dgm:pt>
    <dgm:pt modelId="{F9F26DBD-0612-A543-9CF2-8C7D3480EA87}" type="pres">
      <dgm:prSet presAssocID="{61D415C4-BAFE-4B45-835F-787AB8EE6D24}" presName="parentText" presStyleLbl="node1" presStyleIdx="5" presStyleCnt="6">
        <dgm:presLayoutVars>
          <dgm:chMax val="0"/>
          <dgm:bulletEnabled val="1"/>
        </dgm:presLayoutVars>
      </dgm:prSet>
      <dgm:spPr/>
    </dgm:pt>
  </dgm:ptLst>
  <dgm:cxnLst>
    <dgm:cxn modelId="{3219C712-0508-4DAE-A7E7-C5DCFC066677}" srcId="{F2C71C6A-FD7C-445D-A53C-FDFB70B85A46}" destId="{0CF47FFD-5320-48DB-81E1-297F3AD2B9B8}" srcOrd="4" destOrd="0" parTransId="{7815AF20-7A0C-49EC-B105-2CC8750CF5C5}" sibTransId="{62B67AB2-40B2-4A50-B1D5-A35D423825B1}"/>
    <dgm:cxn modelId="{49650718-0BA4-4744-A5B2-7C419AEF1927}" srcId="{F2C71C6A-FD7C-445D-A53C-FDFB70B85A46}" destId="{068A2DC4-FD8F-4C45-8E09-81D62EA27788}" srcOrd="0" destOrd="0" parTransId="{FC756E26-13A2-4C55-8659-4063BE274CA9}" sibTransId="{C8138043-AD6F-46AA-BA49-1AF912DFE2D4}"/>
    <dgm:cxn modelId="{ACA6E21E-CC66-B24E-A30E-54F07ACACD4E}" type="presOf" srcId="{068A2DC4-FD8F-4C45-8E09-81D62EA27788}" destId="{FDDA300A-6CF8-FC46-BD0F-59330762521B}" srcOrd="0" destOrd="0" presId="urn:microsoft.com/office/officeart/2005/8/layout/vList2"/>
    <dgm:cxn modelId="{610AA423-99FA-4090-97EC-8DCE3FFA6C57}" srcId="{F2C71C6A-FD7C-445D-A53C-FDFB70B85A46}" destId="{50CE636F-8D41-449A-AFB4-7570F0FCED33}" srcOrd="2" destOrd="0" parTransId="{7407A77B-9ED7-4898-B16C-627D60DB81EC}" sibTransId="{22384B6C-41D0-43AA-B3D5-8694FF298D3E}"/>
    <dgm:cxn modelId="{C504A22B-3E08-1A4F-AAB8-1F58C3A88BB7}" type="presOf" srcId="{0CF47FFD-5320-48DB-81E1-297F3AD2B9B8}" destId="{7BCBFD8A-DE4C-484A-B3D9-610B55D46661}" srcOrd="0" destOrd="0" presId="urn:microsoft.com/office/officeart/2005/8/layout/vList2"/>
    <dgm:cxn modelId="{86C1322F-475E-1A4B-B0CB-FD42F1042A89}" type="presOf" srcId="{F2C71C6A-FD7C-445D-A53C-FDFB70B85A46}" destId="{B81E26E2-BBCE-4E4B-AFC6-48A22C2A5F38}" srcOrd="0" destOrd="0" presId="urn:microsoft.com/office/officeart/2005/8/layout/vList2"/>
    <dgm:cxn modelId="{90DA4942-73B5-A449-AA96-EE13F6FDAB35}" type="presOf" srcId="{F40AA516-5E85-47AF-8961-AA3EF8637200}" destId="{0A89C149-0FC6-CB45-9189-CC623E944543}" srcOrd="0" destOrd="0" presId="urn:microsoft.com/office/officeart/2005/8/layout/vList2"/>
    <dgm:cxn modelId="{18888E59-7CAD-4AB4-8530-4E54459042E6}" srcId="{F2C71C6A-FD7C-445D-A53C-FDFB70B85A46}" destId="{61D415C4-BAFE-4B45-835F-787AB8EE6D24}" srcOrd="5" destOrd="0" parTransId="{CD1D9D2E-5749-45A1-B573-3873AEDF57A6}" sibTransId="{AAE64F4A-9EF1-42BD-9C12-B3E5756887BE}"/>
    <dgm:cxn modelId="{40114081-C9FA-453A-87C6-F15C27B668A9}" srcId="{F2C71C6A-FD7C-445D-A53C-FDFB70B85A46}" destId="{796797AE-1CFE-4094-A46D-E2572BB444B6}" srcOrd="3" destOrd="0" parTransId="{4E2553B8-4419-468D-BCF8-7ECC0755D829}" sibTransId="{1F6736FC-E4B0-4CD2-AA9C-A875932A06AE}"/>
    <dgm:cxn modelId="{2D2E9AB3-6DA9-BD45-8B80-B02859D88932}" type="presOf" srcId="{50CE636F-8D41-449A-AFB4-7570F0FCED33}" destId="{D738A604-4515-F446-B489-611B40320E18}" srcOrd="0" destOrd="0" presId="urn:microsoft.com/office/officeart/2005/8/layout/vList2"/>
    <dgm:cxn modelId="{C1BCCBC5-5EB5-5841-AD40-7BBD53D06945}" type="presOf" srcId="{61D415C4-BAFE-4B45-835F-787AB8EE6D24}" destId="{F9F26DBD-0612-A543-9CF2-8C7D3480EA87}" srcOrd="0" destOrd="0" presId="urn:microsoft.com/office/officeart/2005/8/layout/vList2"/>
    <dgm:cxn modelId="{12A3D8DD-F8D5-964E-A450-809FA4535301}" type="presOf" srcId="{796797AE-1CFE-4094-A46D-E2572BB444B6}" destId="{CCE6CB35-665F-0A46-82D3-39CD6A936B8A}" srcOrd="0" destOrd="0" presId="urn:microsoft.com/office/officeart/2005/8/layout/vList2"/>
    <dgm:cxn modelId="{403DD7F5-8E14-4E08-9313-4D4124E9ADD5}" srcId="{F2C71C6A-FD7C-445D-A53C-FDFB70B85A46}" destId="{F40AA516-5E85-47AF-8961-AA3EF8637200}" srcOrd="1" destOrd="0" parTransId="{20D42279-F1C8-4098-A18B-EE00F80F10E2}" sibTransId="{00701CC2-9302-4C31-B26B-551127CB712F}"/>
    <dgm:cxn modelId="{68D5372B-4387-D441-90AC-26AF3E4380D7}" type="presParOf" srcId="{B81E26E2-BBCE-4E4B-AFC6-48A22C2A5F38}" destId="{FDDA300A-6CF8-FC46-BD0F-59330762521B}" srcOrd="0" destOrd="0" presId="urn:microsoft.com/office/officeart/2005/8/layout/vList2"/>
    <dgm:cxn modelId="{59FB6E6E-9861-984F-A921-1D29F926C7DA}" type="presParOf" srcId="{B81E26E2-BBCE-4E4B-AFC6-48A22C2A5F38}" destId="{13237644-A75A-2D4D-8726-5653DFF611F0}" srcOrd="1" destOrd="0" presId="urn:microsoft.com/office/officeart/2005/8/layout/vList2"/>
    <dgm:cxn modelId="{7327949D-D74E-6E4F-8893-500F11818121}" type="presParOf" srcId="{B81E26E2-BBCE-4E4B-AFC6-48A22C2A5F38}" destId="{0A89C149-0FC6-CB45-9189-CC623E944543}" srcOrd="2" destOrd="0" presId="urn:microsoft.com/office/officeart/2005/8/layout/vList2"/>
    <dgm:cxn modelId="{CDEA20BB-13F3-0847-AF7E-C46642C2788B}" type="presParOf" srcId="{B81E26E2-BBCE-4E4B-AFC6-48A22C2A5F38}" destId="{778E4B54-56A0-5147-BC7C-74358B5E2EF6}" srcOrd="3" destOrd="0" presId="urn:microsoft.com/office/officeart/2005/8/layout/vList2"/>
    <dgm:cxn modelId="{9361C5D1-0994-BA44-B395-1B5A3DC1AA7A}" type="presParOf" srcId="{B81E26E2-BBCE-4E4B-AFC6-48A22C2A5F38}" destId="{D738A604-4515-F446-B489-611B40320E18}" srcOrd="4" destOrd="0" presId="urn:microsoft.com/office/officeart/2005/8/layout/vList2"/>
    <dgm:cxn modelId="{11380561-EB04-404E-B73A-074B598DE089}" type="presParOf" srcId="{B81E26E2-BBCE-4E4B-AFC6-48A22C2A5F38}" destId="{54BD3D3D-E5B2-F641-BC79-02099D6E3300}" srcOrd="5" destOrd="0" presId="urn:microsoft.com/office/officeart/2005/8/layout/vList2"/>
    <dgm:cxn modelId="{D99C89AA-FEAE-A444-A9A2-92CD3ACE97C6}" type="presParOf" srcId="{B81E26E2-BBCE-4E4B-AFC6-48A22C2A5F38}" destId="{CCE6CB35-665F-0A46-82D3-39CD6A936B8A}" srcOrd="6" destOrd="0" presId="urn:microsoft.com/office/officeart/2005/8/layout/vList2"/>
    <dgm:cxn modelId="{83496C55-1E74-7D47-97AD-7FFF2734B50A}" type="presParOf" srcId="{B81E26E2-BBCE-4E4B-AFC6-48A22C2A5F38}" destId="{204582C3-6DA8-E344-A523-ABB0398F7E09}" srcOrd="7" destOrd="0" presId="urn:microsoft.com/office/officeart/2005/8/layout/vList2"/>
    <dgm:cxn modelId="{EE9BD63C-9A48-4744-B52A-C42D2097D07F}" type="presParOf" srcId="{B81E26E2-BBCE-4E4B-AFC6-48A22C2A5F38}" destId="{7BCBFD8A-DE4C-484A-B3D9-610B55D46661}" srcOrd="8" destOrd="0" presId="urn:microsoft.com/office/officeart/2005/8/layout/vList2"/>
    <dgm:cxn modelId="{7A85A8EE-1675-DF42-B7E5-62C1B26B07BB}" type="presParOf" srcId="{B81E26E2-BBCE-4E4B-AFC6-48A22C2A5F38}" destId="{1F122D23-ED2B-2C42-8634-9A7ABD797865}" srcOrd="9" destOrd="0" presId="urn:microsoft.com/office/officeart/2005/8/layout/vList2"/>
    <dgm:cxn modelId="{B72517EB-9565-954D-88DB-C4780542B22C}" type="presParOf" srcId="{B81E26E2-BBCE-4E4B-AFC6-48A22C2A5F38}" destId="{F9F26DBD-0612-A543-9CF2-8C7D3480EA87}" srcOrd="1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697572-4F7D-FC48-B86B-36A6417CD815}">
      <dsp:nvSpPr>
        <dsp:cNvPr id="0" name=""/>
        <dsp:cNvSpPr/>
      </dsp:nvSpPr>
      <dsp:spPr>
        <a:xfrm>
          <a:off x="0" y="78176"/>
          <a:ext cx="4872038" cy="1062871"/>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Diabetes affects over 37 million people in the U.S.</a:t>
          </a:r>
          <a:endParaRPr lang="en-US" sz="1900" kern="1200"/>
        </a:p>
      </dsp:txBody>
      <dsp:txXfrm>
        <a:off x="51885" y="130061"/>
        <a:ext cx="4768268" cy="959101"/>
      </dsp:txXfrm>
    </dsp:sp>
    <dsp:sp modelId="{973762E3-3197-194C-8B7C-1E17CFB0723A}">
      <dsp:nvSpPr>
        <dsp:cNvPr id="0" name=""/>
        <dsp:cNvSpPr/>
      </dsp:nvSpPr>
      <dsp:spPr>
        <a:xfrm>
          <a:off x="0" y="1195768"/>
          <a:ext cx="4872038" cy="1062871"/>
        </a:xfrm>
        <a:prstGeom prst="roundRect">
          <a:avLst/>
        </a:prstGeom>
        <a:gradFill rotWithShape="0">
          <a:gsLst>
            <a:gs pos="0">
              <a:schemeClr val="accent2">
                <a:hueOff val="451605"/>
                <a:satOff val="-2211"/>
                <a:lumOff val="1242"/>
                <a:alphaOff val="0"/>
                <a:tint val="98000"/>
                <a:lumMod val="114000"/>
              </a:schemeClr>
            </a:gs>
            <a:gs pos="100000">
              <a:schemeClr val="accent2">
                <a:hueOff val="451605"/>
                <a:satOff val="-2211"/>
                <a:lumOff val="1242"/>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Many cases go undiagnosed until symptoms become severe.</a:t>
          </a:r>
          <a:endParaRPr lang="en-US" sz="1900" kern="1200"/>
        </a:p>
      </dsp:txBody>
      <dsp:txXfrm>
        <a:off x="51885" y="1247653"/>
        <a:ext cx="4768268" cy="959101"/>
      </dsp:txXfrm>
    </dsp:sp>
    <dsp:sp modelId="{4BCBD996-7D50-B54C-96D1-4FB3E3063D4F}">
      <dsp:nvSpPr>
        <dsp:cNvPr id="0" name=""/>
        <dsp:cNvSpPr/>
      </dsp:nvSpPr>
      <dsp:spPr>
        <a:xfrm>
          <a:off x="0" y="2313360"/>
          <a:ext cx="4872038" cy="1062871"/>
        </a:xfrm>
        <a:prstGeom prst="roundRect">
          <a:avLst/>
        </a:prstGeom>
        <a:gradFill rotWithShape="0">
          <a:gsLst>
            <a:gs pos="0">
              <a:schemeClr val="accent2">
                <a:hueOff val="903209"/>
                <a:satOff val="-4421"/>
                <a:lumOff val="2483"/>
                <a:alphaOff val="0"/>
                <a:tint val="98000"/>
                <a:lumMod val="114000"/>
              </a:schemeClr>
            </a:gs>
            <a:gs pos="100000">
              <a:schemeClr val="accent2">
                <a:hueOff val="903209"/>
                <a:satOff val="-4421"/>
                <a:lumOff val="2483"/>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Early detection is key to prevention and better health outcomes.</a:t>
          </a:r>
          <a:endParaRPr lang="en-US" sz="1900" kern="1200"/>
        </a:p>
      </dsp:txBody>
      <dsp:txXfrm>
        <a:off x="51885" y="2365245"/>
        <a:ext cx="4768268" cy="959101"/>
      </dsp:txXfrm>
    </dsp:sp>
    <dsp:sp modelId="{76CCDE5C-3AA0-0743-A979-29F57FFB3BF2}">
      <dsp:nvSpPr>
        <dsp:cNvPr id="0" name=""/>
        <dsp:cNvSpPr/>
      </dsp:nvSpPr>
      <dsp:spPr>
        <a:xfrm>
          <a:off x="0" y="3430951"/>
          <a:ext cx="4872038" cy="1062871"/>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a:t>Machine learning offers a way to support faster, more accurate risk identification.</a:t>
          </a:r>
          <a:endParaRPr lang="en-US" sz="1900" kern="1200"/>
        </a:p>
      </dsp:txBody>
      <dsp:txXfrm>
        <a:off x="51885" y="3482836"/>
        <a:ext cx="4768268" cy="959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11A95C-6C97-1F40-86DE-FBE937DE11B0}">
      <dsp:nvSpPr>
        <dsp:cNvPr id="0" name=""/>
        <dsp:cNvSpPr/>
      </dsp:nvSpPr>
      <dsp:spPr>
        <a:xfrm>
          <a:off x="594" y="778356"/>
          <a:ext cx="2319451" cy="1391671"/>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Glucose and BMI were the strongest predictors in the final model</a:t>
          </a:r>
        </a:p>
      </dsp:txBody>
      <dsp:txXfrm>
        <a:off x="594" y="778356"/>
        <a:ext cx="2319451" cy="1391671"/>
      </dsp:txXfrm>
    </dsp:sp>
    <dsp:sp modelId="{97C0B8F5-D5ED-8B48-ADB0-FD475C755DEE}">
      <dsp:nvSpPr>
        <dsp:cNvPr id="0" name=""/>
        <dsp:cNvSpPr/>
      </dsp:nvSpPr>
      <dsp:spPr>
        <a:xfrm>
          <a:off x="2551991" y="778356"/>
          <a:ext cx="2319451" cy="1391671"/>
        </a:xfrm>
        <a:prstGeom prst="rect">
          <a:avLst/>
        </a:prstGeom>
        <a:gradFill rotWithShape="0">
          <a:gsLst>
            <a:gs pos="0">
              <a:schemeClr val="accent3">
                <a:hueOff val="0"/>
                <a:satOff val="0"/>
                <a:lumOff val="0"/>
                <a:alphaOff val="0"/>
                <a:tint val="98000"/>
                <a:lumMod val="114000"/>
              </a:schemeClr>
            </a:gs>
            <a:gs pos="100000">
              <a:schemeClr val="accent3">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Higher glucose levels were clearly associated with increased diabetes risk</a:t>
          </a:r>
        </a:p>
      </dsp:txBody>
      <dsp:txXfrm>
        <a:off x="2551991" y="778356"/>
        <a:ext cx="2319451" cy="1391671"/>
      </dsp:txXfrm>
    </dsp:sp>
    <dsp:sp modelId="{1D78EE42-89B2-474D-A267-C8B9AB03ACAB}">
      <dsp:nvSpPr>
        <dsp:cNvPr id="0" name=""/>
        <dsp:cNvSpPr/>
      </dsp:nvSpPr>
      <dsp:spPr>
        <a:xfrm>
          <a:off x="594" y="2401972"/>
          <a:ext cx="2319451" cy="1391671"/>
        </a:xfrm>
        <a:prstGeom prst="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BMI also showed a meaningful difference between diabetic and non-diabetic groups</a:t>
          </a:r>
        </a:p>
      </dsp:txBody>
      <dsp:txXfrm>
        <a:off x="594" y="2401972"/>
        <a:ext cx="2319451" cy="1391671"/>
      </dsp:txXfrm>
    </dsp:sp>
    <dsp:sp modelId="{8CEE12D4-EFAE-024B-8B5F-59C3D093E5AA}">
      <dsp:nvSpPr>
        <dsp:cNvPr id="0" name=""/>
        <dsp:cNvSpPr/>
      </dsp:nvSpPr>
      <dsp:spPr>
        <a:xfrm>
          <a:off x="2551991" y="2401972"/>
          <a:ext cx="2319451" cy="1391671"/>
        </a:xfrm>
        <a:prstGeom prst="rect">
          <a:avLst/>
        </a:prstGeom>
        <a:gradFill rotWithShape="0">
          <a:gsLst>
            <a:gs pos="0">
              <a:schemeClr val="accent5">
                <a:hueOff val="0"/>
                <a:satOff val="0"/>
                <a:lumOff val="0"/>
                <a:alphaOff val="0"/>
                <a:tint val="98000"/>
                <a:lumMod val="114000"/>
              </a:schemeClr>
            </a:gs>
            <a:gs pos="100000">
              <a:schemeClr val="accent5">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Feature importance and visualizations confirmed clinical relevance</a:t>
          </a:r>
        </a:p>
      </dsp:txBody>
      <dsp:txXfrm>
        <a:off x="2551991" y="2401972"/>
        <a:ext cx="2319451" cy="13916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ACA09-62C0-4A34-BE5E-62C9F7FE9CF9}">
      <dsp:nvSpPr>
        <dsp:cNvPr id="0" name=""/>
        <dsp:cNvSpPr/>
      </dsp:nvSpPr>
      <dsp:spPr>
        <a:xfrm>
          <a:off x="1404239" y="58408"/>
          <a:ext cx="710001" cy="71000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5A2494-66A2-4FEC-9AC9-78C1729F5322}">
      <dsp:nvSpPr>
        <dsp:cNvPr id="0" name=""/>
        <dsp:cNvSpPr/>
      </dsp:nvSpPr>
      <dsp:spPr>
        <a:xfrm>
          <a:off x="1553339" y="207509"/>
          <a:ext cx="411801" cy="4118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1F0EFB-E847-426D-885E-777F5B6DFC9B}">
      <dsp:nvSpPr>
        <dsp:cNvPr id="0" name=""/>
        <dsp:cNvSpPr/>
      </dsp:nvSpPr>
      <dsp:spPr>
        <a:xfrm>
          <a:off x="2266384" y="58408"/>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Accuracy:</a:t>
          </a:r>
          <a:r>
            <a:rPr lang="en-US" sz="1300" kern="1200"/>
            <a:t> Overall correctness of the model</a:t>
          </a:r>
        </a:p>
      </dsp:txBody>
      <dsp:txXfrm>
        <a:off x="2266384" y="58408"/>
        <a:ext cx="1673575" cy="710001"/>
      </dsp:txXfrm>
    </dsp:sp>
    <dsp:sp modelId="{3BD0E4B2-B159-4BB6-BB34-55B219CCF67F}">
      <dsp:nvSpPr>
        <dsp:cNvPr id="0" name=""/>
        <dsp:cNvSpPr/>
      </dsp:nvSpPr>
      <dsp:spPr>
        <a:xfrm>
          <a:off x="4231567" y="58408"/>
          <a:ext cx="710001" cy="71000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960BD3-8844-420A-B2A6-F95ED2A4850F}">
      <dsp:nvSpPr>
        <dsp:cNvPr id="0" name=""/>
        <dsp:cNvSpPr/>
      </dsp:nvSpPr>
      <dsp:spPr>
        <a:xfrm>
          <a:off x="4380668" y="207509"/>
          <a:ext cx="411801" cy="4118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2B87D0F-E7CA-4C97-BED8-E9347359936C}">
      <dsp:nvSpPr>
        <dsp:cNvPr id="0" name=""/>
        <dsp:cNvSpPr/>
      </dsp:nvSpPr>
      <dsp:spPr>
        <a:xfrm>
          <a:off x="5093712" y="58408"/>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Precision:</a:t>
          </a:r>
          <a:r>
            <a:rPr lang="en-US" sz="1300" kern="1200"/>
            <a:t> How often positive predictions were correct</a:t>
          </a:r>
        </a:p>
      </dsp:txBody>
      <dsp:txXfrm>
        <a:off x="5093712" y="58408"/>
        <a:ext cx="1673575" cy="710001"/>
      </dsp:txXfrm>
    </dsp:sp>
    <dsp:sp modelId="{387E444E-1E08-4E25-9F1D-9C43833A842B}">
      <dsp:nvSpPr>
        <dsp:cNvPr id="0" name=""/>
        <dsp:cNvSpPr/>
      </dsp:nvSpPr>
      <dsp:spPr>
        <a:xfrm>
          <a:off x="1404239" y="1347137"/>
          <a:ext cx="710001" cy="71000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94660C-A098-4A1A-A197-6A4670EEC626}">
      <dsp:nvSpPr>
        <dsp:cNvPr id="0" name=""/>
        <dsp:cNvSpPr/>
      </dsp:nvSpPr>
      <dsp:spPr>
        <a:xfrm>
          <a:off x="1553339" y="1496237"/>
          <a:ext cx="411801" cy="4118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BE45574-8FE5-45C5-9C33-662A0FA5A7A4}">
      <dsp:nvSpPr>
        <dsp:cNvPr id="0" name=""/>
        <dsp:cNvSpPr/>
      </dsp:nvSpPr>
      <dsp:spPr>
        <a:xfrm>
          <a:off x="2266384" y="1347137"/>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Recall:</a:t>
          </a:r>
          <a:r>
            <a:rPr lang="en-US" sz="1300" kern="1200"/>
            <a:t> How well the model found actual positive cases</a:t>
          </a:r>
        </a:p>
      </dsp:txBody>
      <dsp:txXfrm>
        <a:off x="2266384" y="1347137"/>
        <a:ext cx="1673575" cy="710001"/>
      </dsp:txXfrm>
    </dsp:sp>
    <dsp:sp modelId="{7B7E6C16-19F8-4131-ACC0-FAE58D8BBFAE}">
      <dsp:nvSpPr>
        <dsp:cNvPr id="0" name=""/>
        <dsp:cNvSpPr/>
      </dsp:nvSpPr>
      <dsp:spPr>
        <a:xfrm>
          <a:off x="4231567" y="1347137"/>
          <a:ext cx="710001" cy="71000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0D02FE-D017-4447-92D9-392CE91046C7}">
      <dsp:nvSpPr>
        <dsp:cNvPr id="0" name=""/>
        <dsp:cNvSpPr/>
      </dsp:nvSpPr>
      <dsp:spPr>
        <a:xfrm>
          <a:off x="4380668" y="1496237"/>
          <a:ext cx="411801" cy="4118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34F2AE6-4FFE-4B09-B8A4-EDA85863DCEB}">
      <dsp:nvSpPr>
        <dsp:cNvPr id="0" name=""/>
        <dsp:cNvSpPr/>
      </dsp:nvSpPr>
      <dsp:spPr>
        <a:xfrm>
          <a:off x="5093712" y="1347137"/>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F1-Score:</a:t>
          </a:r>
          <a:r>
            <a:rPr lang="en-US" sz="1300" kern="1200"/>
            <a:t> Balance between precision and recall</a:t>
          </a:r>
        </a:p>
      </dsp:txBody>
      <dsp:txXfrm>
        <a:off x="5093712" y="1347137"/>
        <a:ext cx="1673575" cy="710001"/>
      </dsp:txXfrm>
    </dsp:sp>
    <dsp:sp modelId="{6FD9275D-8719-404E-88DC-D832E6DDF981}">
      <dsp:nvSpPr>
        <dsp:cNvPr id="0" name=""/>
        <dsp:cNvSpPr/>
      </dsp:nvSpPr>
      <dsp:spPr>
        <a:xfrm>
          <a:off x="1404239" y="2635866"/>
          <a:ext cx="710001" cy="710001"/>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473113-8568-40DA-A43D-9FA733D3110C}">
      <dsp:nvSpPr>
        <dsp:cNvPr id="0" name=""/>
        <dsp:cNvSpPr/>
      </dsp:nvSpPr>
      <dsp:spPr>
        <a:xfrm>
          <a:off x="1553339" y="2784966"/>
          <a:ext cx="411801" cy="4118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A0751A-4F2D-4485-BF82-523256292CB5}">
      <dsp:nvSpPr>
        <dsp:cNvPr id="0" name=""/>
        <dsp:cNvSpPr/>
      </dsp:nvSpPr>
      <dsp:spPr>
        <a:xfrm>
          <a:off x="2266384" y="2635866"/>
          <a:ext cx="1673575" cy="710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ROC-AUC:</a:t>
          </a:r>
          <a:r>
            <a:rPr lang="en-US" sz="1300" kern="1200"/>
            <a:t> Measures how well the model separates classes</a:t>
          </a:r>
        </a:p>
      </dsp:txBody>
      <dsp:txXfrm>
        <a:off x="2266384" y="2635866"/>
        <a:ext cx="1673575" cy="7100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A3DD98-D515-3243-8992-A2EA5B7B8B2B}">
      <dsp:nvSpPr>
        <dsp:cNvPr id="0" name=""/>
        <dsp:cNvSpPr/>
      </dsp:nvSpPr>
      <dsp:spPr>
        <a:xfrm>
          <a:off x="0" y="0"/>
          <a:ext cx="5642611" cy="890275"/>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Random Forest was the most balanced model overall</a:t>
          </a:r>
          <a:endParaRPr lang="en-US" sz="2300" kern="1200"/>
        </a:p>
      </dsp:txBody>
      <dsp:txXfrm>
        <a:off x="26075" y="26075"/>
        <a:ext cx="4606706" cy="838125"/>
      </dsp:txXfrm>
    </dsp:sp>
    <dsp:sp modelId="{B5D5DFC3-C1D1-2E4D-B826-04E177FF62F5}">
      <dsp:nvSpPr>
        <dsp:cNvPr id="0" name=""/>
        <dsp:cNvSpPr/>
      </dsp:nvSpPr>
      <dsp:spPr>
        <a:xfrm>
          <a:off x="472568" y="1052143"/>
          <a:ext cx="5642611" cy="890275"/>
        </a:xfrm>
        <a:prstGeom prst="roundRect">
          <a:avLst>
            <a:gd name="adj" fmla="val 10000"/>
          </a:avLst>
        </a:prstGeom>
        <a:solidFill>
          <a:schemeClr val="accent2">
            <a:hueOff val="451605"/>
            <a:satOff val="-2211"/>
            <a:lumOff val="124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Tied for the highest accuracy (77%)</a:t>
          </a:r>
        </a:p>
      </dsp:txBody>
      <dsp:txXfrm>
        <a:off x="498643" y="1078218"/>
        <a:ext cx="4539213" cy="838125"/>
      </dsp:txXfrm>
    </dsp:sp>
    <dsp:sp modelId="{14130280-8D64-3D43-8AAB-DF30A9B7DC24}">
      <dsp:nvSpPr>
        <dsp:cNvPr id="0" name=""/>
        <dsp:cNvSpPr/>
      </dsp:nvSpPr>
      <dsp:spPr>
        <a:xfrm>
          <a:off x="938084" y="2104287"/>
          <a:ext cx="5642611" cy="890275"/>
        </a:xfrm>
        <a:prstGeom prst="roundRect">
          <a:avLst>
            <a:gd name="adj" fmla="val 10000"/>
          </a:avLst>
        </a:prstGeom>
        <a:solidFill>
          <a:schemeClr val="accent2">
            <a:hueOff val="903209"/>
            <a:satOff val="-4421"/>
            <a:lumOff val="24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Strong recall for identifying diabetic patients (69%)</a:t>
          </a:r>
        </a:p>
      </dsp:txBody>
      <dsp:txXfrm>
        <a:off x="964159" y="2130362"/>
        <a:ext cx="4546266" cy="838125"/>
      </dsp:txXfrm>
    </dsp:sp>
    <dsp:sp modelId="{F1E260CD-6C4B-B34B-86A6-CA5AA8E6A375}">
      <dsp:nvSpPr>
        <dsp:cNvPr id="0" name=""/>
        <dsp:cNvSpPr/>
      </dsp:nvSpPr>
      <dsp:spPr>
        <a:xfrm>
          <a:off x="1410652" y="3156430"/>
          <a:ext cx="5642611" cy="890275"/>
        </a:xfrm>
        <a:prstGeom prst="roundRect">
          <a:avLst>
            <a:gd name="adj" fmla="val 10000"/>
          </a:avLst>
        </a:prstGeom>
        <a:solidFill>
          <a:schemeClr val="accent2">
            <a:hueOff val="1354814"/>
            <a:satOff val="-6632"/>
            <a:lumOff val="372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Balanced performance across all evaluation metrics</a:t>
          </a:r>
        </a:p>
      </dsp:txBody>
      <dsp:txXfrm>
        <a:off x="1436727" y="3182505"/>
        <a:ext cx="4539213" cy="838125"/>
      </dsp:txXfrm>
    </dsp:sp>
    <dsp:sp modelId="{A4422400-269F-EA4F-9F0A-8DADA0056FAD}">
      <dsp:nvSpPr>
        <dsp:cNvPr id="0" name=""/>
        <dsp:cNvSpPr/>
      </dsp:nvSpPr>
      <dsp:spPr>
        <a:xfrm>
          <a:off x="5063932" y="681869"/>
          <a:ext cx="578678" cy="578678"/>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194135" y="681869"/>
        <a:ext cx="318272" cy="435455"/>
      </dsp:txXfrm>
    </dsp:sp>
    <dsp:sp modelId="{CFEDEA00-6CDA-3148-BC4B-FB1636ABC4EF}">
      <dsp:nvSpPr>
        <dsp:cNvPr id="0" name=""/>
        <dsp:cNvSpPr/>
      </dsp:nvSpPr>
      <dsp:spPr>
        <a:xfrm>
          <a:off x="5536500" y="1734013"/>
          <a:ext cx="578678" cy="578678"/>
        </a:xfrm>
        <a:prstGeom prst="downArrow">
          <a:avLst>
            <a:gd name="adj1" fmla="val 55000"/>
            <a:gd name="adj2" fmla="val 45000"/>
          </a:avLst>
        </a:prstGeom>
        <a:solidFill>
          <a:schemeClr val="accent2">
            <a:tint val="40000"/>
            <a:alpha val="90000"/>
            <a:hueOff val="814885"/>
            <a:satOff val="-2356"/>
            <a:lumOff val="-50"/>
            <a:alphaOff val="0"/>
          </a:schemeClr>
        </a:solidFill>
        <a:ln w="19050" cap="rnd" cmpd="sng" algn="ctr">
          <a:solidFill>
            <a:schemeClr val="accent2">
              <a:tint val="40000"/>
              <a:alpha val="90000"/>
              <a:hueOff val="814885"/>
              <a:satOff val="-2356"/>
              <a:lumOff val="-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5666703" y="1734013"/>
        <a:ext cx="318272" cy="435455"/>
      </dsp:txXfrm>
    </dsp:sp>
    <dsp:sp modelId="{ECFEFD0C-07A2-0F44-BF0C-69ABDBC665AD}">
      <dsp:nvSpPr>
        <dsp:cNvPr id="0" name=""/>
        <dsp:cNvSpPr/>
      </dsp:nvSpPr>
      <dsp:spPr>
        <a:xfrm>
          <a:off x="6002016" y="2786157"/>
          <a:ext cx="578678" cy="578678"/>
        </a:xfrm>
        <a:prstGeom prst="downArrow">
          <a:avLst>
            <a:gd name="adj1" fmla="val 55000"/>
            <a:gd name="adj2" fmla="val 45000"/>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6132219" y="2786157"/>
        <a:ext cx="318272" cy="4354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877E5F-59CD-40C1-A897-07AC6779F3DF}">
      <dsp:nvSpPr>
        <dsp:cNvPr id="0" name=""/>
        <dsp:cNvSpPr/>
      </dsp:nvSpPr>
      <dsp:spPr>
        <a:xfrm>
          <a:off x="0" y="1897"/>
          <a:ext cx="4872038"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939BAD-B9C9-4A56-9467-33961EBB9222}">
      <dsp:nvSpPr>
        <dsp:cNvPr id="0" name=""/>
        <dsp:cNvSpPr/>
      </dsp:nvSpPr>
      <dsp:spPr>
        <a:xfrm>
          <a:off x="290922" y="218286"/>
          <a:ext cx="528950" cy="5289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7AA5DED-8A30-44DC-A4A8-F21FF5341849}">
      <dsp:nvSpPr>
        <dsp:cNvPr id="0" name=""/>
        <dsp:cNvSpPr/>
      </dsp:nvSpPr>
      <dsp:spPr>
        <a:xfrm>
          <a:off x="1110795" y="1897"/>
          <a:ext cx="3761242"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00100">
            <a:lnSpc>
              <a:spcPct val="90000"/>
            </a:lnSpc>
            <a:spcBef>
              <a:spcPct val="0"/>
            </a:spcBef>
            <a:spcAft>
              <a:spcPct val="35000"/>
            </a:spcAft>
            <a:buNone/>
          </a:pPr>
          <a:r>
            <a:rPr lang="en-US" sz="1800" kern="1200"/>
            <a:t>Random Forest provided the best overall balance for predicting diabetes</a:t>
          </a:r>
        </a:p>
      </dsp:txBody>
      <dsp:txXfrm>
        <a:off x="1110795" y="1897"/>
        <a:ext cx="3761242" cy="961727"/>
      </dsp:txXfrm>
    </dsp:sp>
    <dsp:sp modelId="{AF00E49E-8AEE-4C65-8957-1C43682A4B90}">
      <dsp:nvSpPr>
        <dsp:cNvPr id="0" name=""/>
        <dsp:cNvSpPr/>
      </dsp:nvSpPr>
      <dsp:spPr>
        <a:xfrm>
          <a:off x="0" y="1204056"/>
          <a:ext cx="4872038"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367EC6-2AE8-4A6C-89BC-F2BB278FB283}">
      <dsp:nvSpPr>
        <dsp:cNvPr id="0" name=""/>
        <dsp:cNvSpPr/>
      </dsp:nvSpPr>
      <dsp:spPr>
        <a:xfrm>
          <a:off x="290922" y="1420445"/>
          <a:ext cx="528950" cy="5289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6496891-2354-4CAF-951F-B7C409ECB2E8}">
      <dsp:nvSpPr>
        <dsp:cNvPr id="0" name=""/>
        <dsp:cNvSpPr/>
      </dsp:nvSpPr>
      <dsp:spPr>
        <a:xfrm>
          <a:off x="1110795" y="1204056"/>
          <a:ext cx="3761242"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00100">
            <a:lnSpc>
              <a:spcPct val="90000"/>
            </a:lnSpc>
            <a:spcBef>
              <a:spcPct val="0"/>
            </a:spcBef>
            <a:spcAft>
              <a:spcPct val="35000"/>
            </a:spcAft>
            <a:buNone/>
          </a:pPr>
          <a:r>
            <a:rPr lang="en-US" sz="1800" kern="1200"/>
            <a:t>Glucose and BMI were the most influential features</a:t>
          </a:r>
        </a:p>
      </dsp:txBody>
      <dsp:txXfrm>
        <a:off x="1110795" y="1204056"/>
        <a:ext cx="3761242" cy="961727"/>
      </dsp:txXfrm>
    </dsp:sp>
    <dsp:sp modelId="{6A658C4A-60D8-421F-9AD9-AB991F09A188}">
      <dsp:nvSpPr>
        <dsp:cNvPr id="0" name=""/>
        <dsp:cNvSpPr/>
      </dsp:nvSpPr>
      <dsp:spPr>
        <a:xfrm>
          <a:off x="0" y="2406215"/>
          <a:ext cx="4872038"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E6B37D-23BE-4CD6-A3F5-E61557EA4D6D}">
      <dsp:nvSpPr>
        <dsp:cNvPr id="0" name=""/>
        <dsp:cNvSpPr/>
      </dsp:nvSpPr>
      <dsp:spPr>
        <a:xfrm>
          <a:off x="290922" y="2622604"/>
          <a:ext cx="528950" cy="5289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47EBF43-3249-4DD5-A5CC-CBD761B9B3E8}">
      <dsp:nvSpPr>
        <dsp:cNvPr id="0" name=""/>
        <dsp:cNvSpPr/>
      </dsp:nvSpPr>
      <dsp:spPr>
        <a:xfrm>
          <a:off x="1110795" y="2406215"/>
          <a:ext cx="3761242"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00100">
            <a:lnSpc>
              <a:spcPct val="90000"/>
            </a:lnSpc>
            <a:spcBef>
              <a:spcPct val="0"/>
            </a:spcBef>
            <a:spcAft>
              <a:spcPct val="35000"/>
            </a:spcAft>
            <a:buNone/>
          </a:pPr>
          <a:r>
            <a:rPr lang="en-US" sz="1800" kern="1200"/>
            <a:t>Model results supported what is already known in clinical practice</a:t>
          </a:r>
        </a:p>
      </dsp:txBody>
      <dsp:txXfrm>
        <a:off x="1110795" y="2406215"/>
        <a:ext cx="3761242" cy="961727"/>
      </dsp:txXfrm>
    </dsp:sp>
    <dsp:sp modelId="{4E7A188E-9667-4A47-AB19-EB896662A1C2}">
      <dsp:nvSpPr>
        <dsp:cNvPr id="0" name=""/>
        <dsp:cNvSpPr/>
      </dsp:nvSpPr>
      <dsp:spPr>
        <a:xfrm>
          <a:off x="0" y="3608375"/>
          <a:ext cx="4872038" cy="961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7E9277-1603-4093-B173-8D1134777E2C}">
      <dsp:nvSpPr>
        <dsp:cNvPr id="0" name=""/>
        <dsp:cNvSpPr/>
      </dsp:nvSpPr>
      <dsp:spPr>
        <a:xfrm>
          <a:off x="290922" y="3824763"/>
          <a:ext cx="528950" cy="52895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1F5E021-FE78-4F24-A728-286C01263239}">
      <dsp:nvSpPr>
        <dsp:cNvPr id="0" name=""/>
        <dsp:cNvSpPr/>
      </dsp:nvSpPr>
      <dsp:spPr>
        <a:xfrm>
          <a:off x="1110795" y="3608375"/>
          <a:ext cx="3761242" cy="961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783" tIns="101783" rIns="101783" bIns="101783" numCol="1" spcCol="1270" anchor="ctr" anchorCtr="0">
          <a:noAutofit/>
        </a:bodyPr>
        <a:lstStyle/>
        <a:p>
          <a:pPr marL="0" lvl="0" indent="0" algn="l" defTabSz="800100">
            <a:lnSpc>
              <a:spcPct val="90000"/>
            </a:lnSpc>
            <a:spcBef>
              <a:spcPct val="0"/>
            </a:spcBef>
            <a:spcAft>
              <a:spcPct val="35000"/>
            </a:spcAft>
            <a:buNone/>
          </a:pPr>
          <a:r>
            <a:rPr lang="en-US" sz="1800" kern="1200"/>
            <a:t>Predictive modeling can help identify high-risk patients earlier</a:t>
          </a:r>
        </a:p>
      </dsp:txBody>
      <dsp:txXfrm>
        <a:off x="1110795" y="3608375"/>
        <a:ext cx="3761242" cy="9617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81BE5-2502-7844-B26F-163FE4A61A91}">
      <dsp:nvSpPr>
        <dsp:cNvPr id="0" name=""/>
        <dsp:cNvSpPr/>
      </dsp:nvSpPr>
      <dsp:spPr>
        <a:xfrm>
          <a:off x="842247" y="1491"/>
          <a:ext cx="3368992" cy="1529047"/>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368" tIns="388378" rIns="65368" bIns="388378" numCol="1" spcCol="1270" anchor="ctr" anchorCtr="0">
          <a:noAutofit/>
        </a:bodyPr>
        <a:lstStyle/>
        <a:p>
          <a:pPr marL="0" lvl="0" indent="0" algn="l" defTabSz="666750">
            <a:lnSpc>
              <a:spcPct val="90000"/>
            </a:lnSpc>
            <a:spcBef>
              <a:spcPct val="0"/>
            </a:spcBef>
            <a:spcAft>
              <a:spcPct val="35000"/>
            </a:spcAft>
            <a:buNone/>
          </a:pPr>
          <a:r>
            <a:rPr lang="en-US" sz="1500" kern="1200"/>
            <a:t>Add new features (e.g., family history, lifestyle factors) or combine with additional datasets</a:t>
          </a:r>
        </a:p>
      </dsp:txBody>
      <dsp:txXfrm>
        <a:off x="842247" y="1491"/>
        <a:ext cx="3368992" cy="1529047"/>
      </dsp:txXfrm>
    </dsp:sp>
    <dsp:sp modelId="{D157B4EB-8812-E943-B675-6736376314F9}">
      <dsp:nvSpPr>
        <dsp:cNvPr id="0" name=""/>
        <dsp:cNvSpPr/>
      </dsp:nvSpPr>
      <dsp:spPr>
        <a:xfrm>
          <a:off x="0" y="1491"/>
          <a:ext cx="842248" cy="1529047"/>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69" tIns="151036" rIns="44569" bIns="151036" numCol="1" spcCol="1270" anchor="ctr" anchorCtr="0">
          <a:noAutofit/>
        </a:bodyPr>
        <a:lstStyle/>
        <a:p>
          <a:pPr marL="0" lvl="0" indent="0" algn="ctr" defTabSz="844550">
            <a:lnSpc>
              <a:spcPct val="90000"/>
            </a:lnSpc>
            <a:spcBef>
              <a:spcPct val="0"/>
            </a:spcBef>
            <a:spcAft>
              <a:spcPct val="35000"/>
            </a:spcAft>
            <a:buNone/>
          </a:pPr>
          <a:r>
            <a:rPr lang="en-US" sz="1900" kern="1200"/>
            <a:t>Add</a:t>
          </a:r>
        </a:p>
      </dsp:txBody>
      <dsp:txXfrm>
        <a:off x="0" y="1491"/>
        <a:ext cx="842248" cy="1529047"/>
      </dsp:txXfrm>
    </dsp:sp>
    <dsp:sp modelId="{A7615853-124E-4342-80F7-F50B2DF3D042}">
      <dsp:nvSpPr>
        <dsp:cNvPr id="0" name=""/>
        <dsp:cNvSpPr/>
      </dsp:nvSpPr>
      <dsp:spPr>
        <a:xfrm>
          <a:off x="842247" y="1622282"/>
          <a:ext cx="3368992" cy="1529047"/>
        </a:xfrm>
        <a:prstGeom prst="rect">
          <a:avLst/>
        </a:prstGeom>
        <a:solidFill>
          <a:schemeClr val="accent2">
            <a:tint val="40000"/>
            <a:alpha val="90000"/>
            <a:hueOff val="814885"/>
            <a:satOff val="-2356"/>
            <a:lumOff val="-50"/>
            <a:alphaOff val="0"/>
          </a:schemeClr>
        </a:solidFill>
        <a:ln w="19050" cap="rnd" cmpd="sng" algn="ctr">
          <a:solidFill>
            <a:schemeClr val="accent2">
              <a:tint val="40000"/>
              <a:alpha val="90000"/>
              <a:hueOff val="814885"/>
              <a:satOff val="-2356"/>
              <a:lumOff val="-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368" tIns="388378" rIns="65368" bIns="388378" numCol="1" spcCol="1270" anchor="ctr" anchorCtr="0">
          <a:noAutofit/>
        </a:bodyPr>
        <a:lstStyle/>
        <a:p>
          <a:pPr marL="0" lvl="0" indent="0" algn="l" defTabSz="666750">
            <a:lnSpc>
              <a:spcPct val="90000"/>
            </a:lnSpc>
            <a:spcBef>
              <a:spcPct val="0"/>
            </a:spcBef>
            <a:spcAft>
              <a:spcPct val="35000"/>
            </a:spcAft>
            <a:buNone/>
          </a:pPr>
          <a:r>
            <a:rPr lang="en-US" sz="1500" kern="1200"/>
            <a:t>Fine-tune model parameters to boost accuracy and reduce false predictions</a:t>
          </a:r>
        </a:p>
      </dsp:txBody>
      <dsp:txXfrm>
        <a:off x="842247" y="1622282"/>
        <a:ext cx="3368992" cy="1529047"/>
      </dsp:txXfrm>
    </dsp:sp>
    <dsp:sp modelId="{F35EB481-1637-6C45-85FD-16934D3C6CE5}">
      <dsp:nvSpPr>
        <dsp:cNvPr id="0" name=""/>
        <dsp:cNvSpPr/>
      </dsp:nvSpPr>
      <dsp:spPr>
        <a:xfrm>
          <a:off x="0" y="1622282"/>
          <a:ext cx="842248" cy="1529047"/>
        </a:xfrm>
        <a:prstGeom prst="rect">
          <a:avLst/>
        </a:prstGeom>
        <a:solidFill>
          <a:schemeClr val="accent2">
            <a:hueOff val="677407"/>
            <a:satOff val="-3316"/>
            <a:lumOff val="1862"/>
            <a:alphaOff val="0"/>
          </a:schemeClr>
        </a:solidFill>
        <a:ln w="19050" cap="rnd" cmpd="sng" algn="ctr">
          <a:solidFill>
            <a:schemeClr val="accent2">
              <a:hueOff val="677407"/>
              <a:satOff val="-3316"/>
              <a:lumOff val="186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69" tIns="151036" rIns="44569" bIns="151036" numCol="1" spcCol="1270" anchor="ctr" anchorCtr="0">
          <a:noAutofit/>
        </a:bodyPr>
        <a:lstStyle/>
        <a:p>
          <a:pPr marL="0" lvl="0" indent="0" algn="ctr" defTabSz="844550">
            <a:lnSpc>
              <a:spcPct val="90000"/>
            </a:lnSpc>
            <a:spcBef>
              <a:spcPct val="0"/>
            </a:spcBef>
            <a:spcAft>
              <a:spcPct val="35000"/>
            </a:spcAft>
            <a:buNone/>
          </a:pPr>
          <a:r>
            <a:rPr lang="en-US" sz="1900" kern="1200"/>
            <a:t>Fine-tune</a:t>
          </a:r>
        </a:p>
      </dsp:txBody>
      <dsp:txXfrm>
        <a:off x="0" y="1622282"/>
        <a:ext cx="842248" cy="1529047"/>
      </dsp:txXfrm>
    </dsp:sp>
    <dsp:sp modelId="{DE28A2D5-5938-EC48-A186-0029CDA58CE9}">
      <dsp:nvSpPr>
        <dsp:cNvPr id="0" name=""/>
        <dsp:cNvSpPr/>
      </dsp:nvSpPr>
      <dsp:spPr>
        <a:xfrm>
          <a:off x="842247" y="3243073"/>
          <a:ext cx="3368992" cy="1529047"/>
        </a:xfrm>
        <a:prstGeom prst="rect">
          <a:avLst/>
        </a:prstGeom>
        <a:solidFill>
          <a:schemeClr val="accent2">
            <a:tint val="40000"/>
            <a:alpha val="90000"/>
            <a:hueOff val="1629769"/>
            <a:satOff val="-4713"/>
            <a:lumOff val="-100"/>
            <a:alphaOff val="0"/>
          </a:schemeClr>
        </a:solidFill>
        <a:ln w="19050" cap="rnd" cmpd="sng" algn="ctr">
          <a:solidFill>
            <a:schemeClr val="accent2">
              <a:tint val="40000"/>
              <a:alpha val="90000"/>
              <a:hueOff val="1629769"/>
              <a:satOff val="-4713"/>
              <a:lumOff val="-1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368" tIns="388378" rIns="65368" bIns="388378" numCol="1" spcCol="1270" anchor="ctr" anchorCtr="0">
          <a:noAutofit/>
        </a:bodyPr>
        <a:lstStyle/>
        <a:p>
          <a:pPr marL="0" lvl="0" indent="0" algn="l" defTabSz="666750">
            <a:lnSpc>
              <a:spcPct val="90000"/>
            </a:lnSpc>
            <a:spcBef>
              <a:spcPct val="0"/>
            </a:spcBef>
            <a:spcAft>
              <a:spcPct val="35000"/>
            </a:spcAft>
            <a:buNone/>
          </a:pPr>
          <a:r>
            <a:rPr lang="en-US" sz="1500" kern="1200"/>
            <a:t>Try more advanced models like neural networks or support vector machines (SVM)</a:t>
          </a:r>
        </a:p>
      </dsp:txBody>
      <dsp:txXfrm>
        <a:off x="842247" y="3243073"/>
        <a:ext cx="3368992" cy="1529047"/>
      </dsp:txXfrm>
    </dsp:sp>
    <dsp:sp modelId="{F6EEF204-8724-4246-9B6B-3E2C1B3C789D}">
      <dsp:nvSpPr>
        <dsp:cNvPr id="0" name=""/>
        <dsp:cNvSpPr/>
      </dsp:nvSpPr>
      <dsp:spPr>
        <a:xfrm>
          <a:off x="0" y="3243073"/>
          <a:ext cx="842248" cy="1529047"/>
        </a:xfrm>
        <a:prstGeom prst="rect">
          <a:avLst/>
        </a:prstGeom>
        <a:solidFill>
          <a:schemeClr val="accent2">
            <a:hueOff val="1354814"/>
            <a:satOff val="-6632"/>
            <a:lumOff val="3725"/>
            <a:alphaOff val="0"/>
          </a:schemeClr>
        </a:solidFill>
        <a:ln w="19050" cap="rnd" cmpd="sng" algn="ctr">
          <a:solidFill>
            <a:schemeClr val="accent2">
              <a:hueOff val="1354814"/>
              <a:satOff val="-6632"/>
              <a:lumOff val="372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569" tIns="151036" rIns="44569" bIns="151036" numCol="1" spcCol="1270" anchor="ctr" anchorCtr="0">
          <a:noAutofit/>
        </a:bodyPr>
        <a:lstStyle/>
        <a:p>
          <a:pPr marL="0" lvl="0" indent="0" algn="ctr" defTabSz="844550">
            <a:lnSpc>
              <a:spcPct val="90000"/>
            </a:lnSpc>
            <a:spcBef>
              <a:spcPct val="0"/>
            </a:spcBef>
            <a:spcAft>
              <a:spcPct val="35000"/>
            </a:spcAft>
            <a:buNone/>
          </a:pPr>
          <a:r>
            <a:rPr lang="en-US" sz="1900" kern="1200"/>
            <a:t>Try</a:t>
          </a:r>
        </a:p>
      </dsp:txBody>
      <dsp:txXfrm>
        <a:off x="0" y="3243073"/>
        <a:ext cx="842248" cy="15290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A300A-6CF8-FC46-BD0F-59330762521B}">
      <dsp:nvSpPr>
        <dsp:cNvPr id="0" name=""/>
        <dsp:cNvSpPr/>
      </dsp:nvSpPr>
      <dsp:spPr>
        <a:xfrm>
          <a:off x="0" y="261359"/>
          <a:ext cx="4872038" cy="636480"/>
        </a:xfrm>
        <a:prstGeom prst="round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Python:</a:t>
          </a:r>
          <a:r>
            <a:rPr lang="en-US" sz="1600" kern="1200"/>
            <a:t> Main programming language used for all analysis</a:t>
          </a:r>
        </a:p>
      </dsp:txBody>
      <dsp:txXfrm>
        <a:off x="31070" y="292429"/>
        <a:ext cx="4809898" cy="574340"/>
      </dsp:txXfrm>
    </dsp:sp>
    <dsp:sp modelId="{0A89C149-0FC6-CB45-9189-CC623E944543}">
      <dsp:nvSpPr>
        <dsp:cNvPr id="0" name=""/>
        <dsp:cNvSpPr/>
      </dsp:nvSpPr>
      <dsp:spPr>
        <a:xfrm>
          <a:off x="0" y="943919"/>
          <a:ext cx="4872038" cy="636480"/>
        </a:xfrm>
        <a:prstGeom prst="roundRect">
          <a:avLst/>
        </a:prstGeom>
        <a:gradFill rotWithShape="0">
          <a:gsLst>
            <a:gs pos="0">
              <a:schemeClr val="accent2">
                <a:hueOff val="270963"/>
                <a:satOff val="-1326"/>
                <a:lumOff val="745"/>
                <a:alphaOff val="0"/>
                <a:tint val="98000"/>
                <a:lumMod val="114000"/>
              </a:schemeClr>
            </a:gs>
            <a:gs pos="100000">
              <a:schemeClr val="accent2">
                <a:hueOff val="270963"/>
                <a:satOff val="-1326"/>
                <a:lumOff val="74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Pandas &amp; NumPy:</a:t>
          </a:r>
          <a:r>
            <a:rPr lang="en-US" sz="1600" kern="1200"/>
            <a:t> For data cleaning, manipulation, and numerical operations</a:t>
          </a:r>
        </a:p>
      </dsp:txBody>
      <dsp:txXfrm>
        <a:off x="31070" y="974989"/>
        <a:ext cx="4809898" cy="574340"/>
      </dsp:txXfrm>
    </dsp:sp>
    <dsp:sp modelId="{D738A604-4515-F446-B489-611B40320E18}">
      <dsp:nvSpPr>
        <dsp:cNvPr id="0" name=""/>
        <dsp:cNvSpPr/>
      </dsp:nvSpPr>
      <dsp:spPr>
        <a:xfrm>
          <a:off x="0" y="1626479"/>
          <a:ext cx="4872038" cy="636480"/>
        </a:xfrm>
        <a:prstGeom prst="roundRect">
          <a:avLst/>
        </a:prstGeom>
        <a:gradFill rotWithShape="0">
          <a:gsLst>
            <a:gs pos="0">
              <a:schemeClr val="accent2">
                <a:hueOff val="541926"/>
                <a:satOff val="-2653"/>
                <a:lumOff val="1490"/>
                <a:alphaOff val="0"/>
                <a:tint val="98000"/>
                <a:lumMod val="114000"/>
              </a:schemeClr>
            </a:gs>
            <a:gs pos="100000">
              <a:schemeClr val="accent2">
                <a:hueOff val="541926"/>
                <a:satOff val="-2653"/>
                <a:lumOff val="149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Scikit-learn:</a:t>
          </a:r>
          <a:r>
            <a:rPr lang="en-US" sz="1600" kern="1200"/>
            <a:t> For building, training, and evaluating machine learning models</a:t>
          </a:r>
        </a:p>
      </dsp:txBody>
      <dsp:txXfrm>
        <a:off x="31070" y="1657549"/>
        <a:ext cx="4809898" cy="574340"/>
      </dsp:txXfrm>
    </dsp:sp>
    <dsp:sp modelId="{CCE6CB35-665F-0A46-82D3-39CD6A936B8A}">
      <dsp:nvSpPr>
        <dsp:cNvPr id="0" name=""/>
        <dsp:cNvSpPr/>
      </dsp:nvSpPr>
      <dsp:spPr>
        <a:xfrm>
          <a:off x="0" y="2309039"/>
          <a:ext cx="4872038" cy="636480"/>
        </a:xfrm>
        <a:prstGeom prst="roundRect">
          <a:avLst/>
        </a:prstGeom>
        <a:gradFill rotWithShape="0">
          <a:gsLst>
            <a:gs pos="0">
              <a:schemeClr val="accent2">
                <a:hueOff val="812888"/>
                <a:satOff val="-3979"/>
                <a:lumOff val="2235"/>
                <a:alphaOff val="0"/>
                <a:tint val="98000"/>
                <a:lumMod val="114000"/>
              </a:schemeClr>
            </a:gs>
            <a:gs pos="100000">
              <a:schemeClr val="accent2">
                <a:hueOff val="812888"/>
                <a:satOff val="-3979"/>
                <a:lumOff val="223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XGBoost:</a:t>
          </a:r>
          <a:r>
            <a:rPr lang="en-US" sz="1600" kern="1200"/>
            <a:t> For testing a gradient boosting model</a:t>
          </a:r>
        </a:p>
      </dsp:txBody>
      <dsp:txXfrm>
        <a:off x="31070" y="2340109"/>
        <a:ext cx="4809898" cy="574340"/>
      </dsp:txXfrm>
    </dsp:sp>
    <dsp:sp modelId="{7BCBFD8A-DE4C-484A-B3D9-610B55D46661}">
      <dsp:nvSpPr>
        <dsp:cNvPr id="0" name=""/>
        <dsp:cNvSpPr/>
      </dsp:nvSpPr>
      <dsp:spPr>
        <a:xfrm>
          <a:off x="0" y="2991599"/>
          <a:ext cx="4872038" cy="636480"/>
        </a:xfrm>
        <a:prstGeom prst="roundRect">
          <a:avLst/>
        </a:prstGeom>
        <a:gradFill rotWithShape="0">
          <a:gsLst>
            <a:gs pos="0">
              <a:schemeClr val="accent2">
                <a:hueOff val="1083851"/>
                <a:satOff val="-5306"/>
                <a:lumOff val="2980"/>
                <a:alphaOff val="0"/>
                <a:tint val="98000"/>
                <a:lumMod val="114000"/>
              </a:schemeClr>
            </a:gs>
            <a:gs pos="100000">
              <a:schemeClr val="accent2">
                <a:hueOff val="1083851"/>
                <a:satOff val="-5306"/>
                <a:lumOff val="298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Seaborn &amp; Matplotlib:</a:t>
          </a:r>
          <a:r>
            <a:rPr lang="en-US" sz="1600" kern="1200"/>
            <a:t> For creating visualizations and exploring feature relationships</a:t>
          </a:r>
        </a:p>
      </dsp:txBody>
      <dsp:txXfrm>
        <a:off x="31070" y="3022669"/>
        <a:ext cx="4809898" cy="574340"/>
      </dsp:txXfrm>
    </dsp:sp>
    <dsp:sp modelId="{F9F26DBD-0612-A543-9CF2-8C7D3480EA87}">
      <dsp:nvSpPr>
        <dsp:cNvPr id="0" name=""/>
        <dsp:cNvSpPr/>
      </dsp:nvSpPr>
      <dsp:spPr>
        <a:xfrm>
          <a:off x="0" y="3674160"/>
          <a:ext cx="4872038" cy="636480"/>
        </a:xfrm>
        <a:prstGeom prst="roundRect">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Jupyter Notebook:</a:t>
          </a:r>
          <a:r>
            <a:rPr lang="en-US" sz="1600" kern="1200"/>
            <a:t> For organizing, running, and documenting all code and analysis</a:t>
          </a:r>
        </a:p>
      </dsp:txBody>
      <dsp:txXfrm>
        <a:off x="31070" y="3705230"/>
        <a:ext cx="4809898"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60FA45-7287-C141-8B9A-CDFD24200495}" type="datetimeFigureOut">
              <a:rPr lang="en-US" smtClean="0"/>
              <a:t>5/29/25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950C19-D2AA-4F48-B49F-720274682791}" type="slidenum">
              <a:rPr lang="en-US" smtClean="0"/>
              <a:t>‹#›</a:t>
            </a:fld>
            <a:endParaRPr lang="en-US"/>
          </a:p>
        </p:txBody>
      </p:sp>
    </p:spTree>
    <p:extLst>
      <p:ext uri="{BB962C8B-B14F-4D97-AF65-F5344CB8AC3E}">
        <p14:creationId xmlns:p14="http://schemas.microsoft.com/office/powerpoint/2010/main" val="4154116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this presentation, I walk through how I built a predictive model to help identify patients at risk for diabetes using clinical data.</a:t>
            </a:r>
          </a:p>
          <a:p>
            <a:endParaRPr lang="en-US" dirty="0"/>
          </a:p>
        </p:txBody>
      </p:sp>
      <p:sp>
        <p:nvSpPr>
          <p:cNvPr id="4" name="Slide Number Placeholder 3"/>
          <p:cNvSpPr>
            <a:spLocks noGrp="1"/>
          </p:cNvSpPr>
          <p:nvPr>
            <p:ph type="sldNum" sz="quarter" idx="5"/>
          </p:nvPr>
        </p:nvSpPr>
        <p:spPr/>
        <p:txBody>
          <a:bodyPr/>
          <a:lstStyle/>
          <a:p>
            <a:fld id="{18950C19-D2AA-4F48-B49F-720274682791}" type="slidenum">
              <a:rPr lang="en-US" smtClean="0"/>
              <a:t>1</a:t>
            </a:fld>
            <a:endParaRPr lang="en-US"/>
          </a:p>
        </p:txBody>
      </p:sp>
    </p:spTree>
    <p:extLst>
      <p:ext uri="{BB962C8B-B14F-4D97-AF65-F5344CB8AC3E}">
        <p14:creationId xmlns:p14="http://schemas.microsoft.com/office/powerpoint/2010/main" val="1172643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This project focuses on predicting diabetes using machine learning. Diabetes is a growing health issue, and many people live with it without knowing. Early detection makes a big difference, but traditional screening doesn’t always catch it in time. With data and machine learning, we can build models that help flag high-risk individuals earlier so they can get care sooner and avoid long-term complications.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The goal of this project was to create a predictive model that can help flag individuals who may be at risk for diabetes. The idea is to identify those at risk early, before symptoms get worse or go unnoticed. By using clinical data and testing different machine learning models, the goal was to find the approach that delivers the best balance of accuracy and real-world usefulness for healthcare providers.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This project used the Pima Indians Diabetes dataset, which is a well-known dataset in the health and data science community. It includes records from 768 female patients of Pima Indian heritage, each with eight clinical features such as glucose level, BMI, insulin, blood pressure, and age. The dataset also has a target variable that tells us whether each patient was diagnosed with diabetes or not. It’s a great dataset for testing classification models and learning from real health indicators.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For data prep, I first cleaned up any 0 values in important health features like glucose and BMI—since 0 isn’t realistic for these, I treated them as missing and replaced them with the median. I also capped extreme values to reduce the impact of outliers, which can throw off machine learning models. After that, I standardized all the features so they were on the same scale. Finally, I split the dataset into training and test sets—80% for training the models and 20% for testing how well they generalize.</a:t>
            </a:r>
            <a:endParaRPr b="1"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After training the models, glucose and BMI clearly emerged as the most important features for predicting diabetes. This result aligned well with clinical knowledge, as both are widely recognized risk factors. The visualizations showed noticeable differences between diabetic and non-diabetic patients based on these features, and the model’s feature importance scores supported those patterns. It was reassuring to see that the model’s behavior reflected real-world medical insights.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I tested three models: Logistic Regression, Random Forest, and </a:t>
            </a:r>
            <a:r>
              <a:rPr lang="en-US" sz="1200" b="0" i="0" u="none" strike="noStrike" kern="1200" dirty="0" err="1">
                <a:solidFill>
                  <a:schemeClr val="tx1"/>
                </a:solidFill>
                <a:effectLst/>
                <a:latin typeface="+mn-lt"/>
                <a:ea typeface="+mn-ea"/>
                <a:cs typeface="+mn-cs"/>
              </a:rPr>
              <a:t>XGBoost</a:t>
            </a:r>
            <a:r>
              <a:rPr lang="en-US" sz="1200" b="0" i="0" u="none" strike="noStrike" kern="1200" dirty="0">
                <a:solidFill>
                  <a:schemeClr val="tx1"/>
                </a:solidFill>
                <a:effectLst/>
                <a:latin typeface="+mn-lt"/>
                <a:ea typeface="+mn-ea"/>
                <a:cs typeface="+mn-cs"/>
              </a:rPr>
              <a:t>. Logistic Regression was my baseline model. Random Forest and </a:t>
            </a:r>
            <a:r>
              <a:rPr lang="en-US" sz="1200" b="0" i="0" u="none" strike="noStrike" kern="1200" dirty="0" err="1">
                <a:solidFill>
                  <a:schemeClr val="tx1"/>
                </a:solidFill>
                <a:effectLst/>
                <a:latin typeface="+mn-lt"/>
                <a:ea typeface="+mn-ea"/>
                <a:cs typeface="+mn-cs"/>
              </a:rPr>
              <a:t>XGBoost</a:t>
            </a:r>
            <a:r>
              <a:rPr lang="en-US" sz="1200" b="0" i="0" u="none" strike="noStrike" kern="1200" dirty="0">
                <a:solidFill>
                  <a:schemeClr val="tx1"/>
                </a:solidFill>
                <a:effectLst/>
                <a:latin typeface="+mn-lt"/>
                <a:ea typeface="+mn-ea"/>
                <a:cs typeface="+mn-cs"/>
              </a:rPr>
              <a:t> are more complex and allow me to capture deeper, nonlinear patterns in the data. Testing multiple models gave me the ability to compare their strengths and weaknesses.</a:t>
            </a:r>
            <a:br>
              <a:rPr lang="en-US" sz="1200" b="0" i="0" u="none" strike="noStrike" kern="1200" dirty="0">
                <a:solidFill>
                  <a:schemeClr val="tx1"/>
                </a:solidFill>
                <a:effectLst/>
                <a:latin typeface="+mn-lt"/>
                <a:ea typeface="+mn-ea"/>
                <a:cs typeface="+mn-cs"/>
              </a:rPr>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I used several evaluation metrics to get a full picture of how the models performed. Accuracy tells us how often the model was right overall. Precision focuses on how many of the positive predictions were actually correct, while recall shows how well the model found actual diabetes cases. The F1-score balances both precision and recall, which is especially important in medical settings. Lastly, the ROC-AUC score shows how well the model can distinguish between diabetic and non-diabetic patients. Together, these metrics helped me decide which model was most reliable.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Logistic Regression gave me a solid baseline with 77% accuracy, but its recall for diabetic patients was the lowest at 65%. Random Forest matched that 77% accuracy and raised recall to 69%, making it the most balanced model for this project. </a:t>
            </a:r>
            <a:r>
              <a:rPr lang="en-US" sz="1200" b="0" i="0" u="none" strike="noStrike" kern="1200" dirty="0" err="1">
                <a:solidFill>
                  <a:schemeClr val="tx1"/>
                </a:solidFill>
                <a:effectLst/>
                <a:latin typeface="+mn-lt"/>
                <a:ea typeface="+mn-ea"/>
                <a:cs typeface="+mn-cs"/>
              </a:rPr>
              <a:t>XGBoost</a:t>
            </a:r>
            <a:r>
              <a:rPr lang="en-US" sz="1200" b="0" i="0" u="none" strike="noStrike" kern="1200" dirty="0">
                <a:solidFill>
                  <a:schemeClr val="tx1"/>
                </a:solidFill>
                <a:effectLst/>
                <a:latin typeface="+mn-lt"/>
                <a:ea typeface="+mn-ea"/>
                <a:cs typeface="+mn-cs"/>
              </a:rPr>
              <a:t> had the highest recall at 73%, but lower accuracy (73%) and lower precision, which meant more false positives. Based on this comparison, Random Forest was the most reliable and practical option for identifying at-risk individuals.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After comparing all three models, Random Forest stood out as the best choice. It tied for the highest accuracy at 77% and was the most balanced when looking at precision, recall, and F1-score. This balance is especially important in medical predictions, where we want to avoid both false positives and false negatives. That’s why I selected Random Forest as the final model for this project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In the end, Random Forest was the most reliable model for predicting diabetes. It provided a strong balance of accuracy and recall, and its feature importance scores identified glucose and BMI as the top predictors, both of which are already known to be key clinical indicators. The fact that the model's results aligned with medical knowledge gave me more confidence in its usefulness. Overall, this project shows how predictive modeling can support earlier identification of at-risk individuals and help guide more timely interventions.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To improve this project further, I could add more detailed features like family history or physical activity, or even bring in data from other sources. I’d also look into fine-tuning the model’s hyperparameters, which could help improve accuracy and reduce misclassifications. Lastly, I’d be interested in testing out more advanced models like neural networks or SVM to see if they can capture more complex patterns in the data.</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For this project, I used Python as the main programming language. Pandas and NumPy were key for preparing and working with the data. I used Scikit-learn to build and evaluate the Logistic Regression and Random Forest models, and </a:t>
            </a:r>
            <a:r>
              <a:rPr lang="en-US" sz="1200" b="0" i="0" u="none" strike="noStrike" kern="1200" dirty="0" err="1">
                <a:solidFill>
                  <a:schemeClr val="tx1"/>
                </a:solidFill>
                <a:effectLst/>
                <a:latin typeface="+mn-lt"/>
                <a:ea typeface="+mn-ea"/>
                <a:cs typeface="+mn-cs"/>
              </a:rPr>
              <a:t>XGBoost</a:t>
            </a:r>
            <a:r>
              <a:rPr lang="en-US" sz="1200" b="0" i="0" u="none" strike="noStrike" kern="1200" dirty="0">
                <a:solidFill>
                  <a:schemeClr val="tx1"/>
                </a:solidFill>
                <a:effectLst/>
                <a:latin typeface="+mn-lt"/>
                <a:ea typeface="+mn-ea"/>
                <a:cs typeface="+mn-cs"/>
              </a:rPr>
              <a:t> to test an additional boosting model. For visualizations, I used Seaborn and Matplotlib to help explore feature relationships and support my findings. Everything was done in </a:t>
            </a:r>
            <a:r>
              <a:rPr lang="en-US" sz="1200" b="0" i="0" u="none" strike="noStrike" kern="1200" dirty="0" err="1">
                <a:solidFill>
                  <a:schemeClr val="tx1"/>
                </a:solidFill>
                <a:effectLst/>
                <a:latin typeface="+mn-lt"/>
                <a:ea typeface="+mn-ea"/>
                <a:cs typeface="+mn-cs"/>
              </a:rPr>
              <a:t>Jupyter</a:t>
            </a:r>
            <a:r>
              <a:rPr lang="en-US" sz="1200" b="0" i="0" u="none" strike="noStrike" kern="1200" dirty="0">
                <a:solidFill>
                  <a:schemeClr val="tx1"/>
                </a:solidFill>
                <a:effectLst/>
                <a:latin typeface="+mn-lt"/>
                <a:ea typeface="+mn-ea"/>
                <a:cs typeface="+mn-cs"/>
              </a:rPr>
              <a:t> Notebook, which made it easy to keep my code and analysis organized.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u="none" strike="noStrike" kern="1200" dirty="0">
                <a:solidFill>
                  <a:schemeClr val="tx1"/>
                </a:solidFill>
                <a:effectLst/>
                <a:latin typeface="+mn-lt"/>
                <a:ea typeface="+mn-ea"/>
                <a:cs typeface="+mn-cs"/>
              </a:rPr>
              <a:t>These references include the key tools and sources I used throughout the project, including the dataset, visualization and modeling libraries, and clinical guidance from the American Diabetes Association to support the use of glucose and BMI as relevant risk factors.</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101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230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418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33641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802640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1582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582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64495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074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4271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6833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2731695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199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6265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24604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5867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8119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5/29/25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42907277"/>
      </p:ext>
    </p:extLst>
  </p:cSld>
  <p:clrMap bg1="dk1" tx1="lt1" bg2="dk2" tx2="lt2" accent1="accent1" accent2="accent2" accent3="accent3" accent4="accent4" accent5="accent5" accent6="accent6" hlink="hlink" folHlink="folHlink"/>
  <p:sldLayoutIdLst>
    <p:sldLayoutId id="2147484476" r:id="rId1"/>
    <p:sldLayoutId id="2147484477" r:id="rId2"/>
    <p:sldLayoutId id="2147484478" r:id="rId3"/>
    <p:sldLayoutId id="2147484479" r:id="rId4"/>
    <p:sldLayoutId id="2147484480" r:id="rId5"/>
    <p:sldLayoutId id="2147484481" r:id="rId6"/>
    <p:sldLayoutId id="2147484482" r:id="rId7"/>
    <p:sldLayoutId id="2147484483" r:id="rId8"/>
    <p:sldLayoutId id="2147484484" r:id="rId9"/>
    <p:sldLayoutId id="2147484485" r:id="rId10"/>
    <p:sldLayoutId id="2147484486" r:id="rId11"/>
    <p:sldLayoutId id="2147484487" r:id="rId12"/>
    <p:sldLayoutId id="2147484488" r:id="rId13"/>
    <p:sldLayoutId id="2147484489" r:id="rId14"/>
    <p:sldLayoutId id="2147484490" r:id="rId15"/>
    <p:sldLayoutId id="2147484491" r:id="rId16"/>
    <p:sldLayoutId id="2147484492"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5" Type="http://schemas.openxmlformats.org/officeDocument/2006/relationships/image" Target="../media/image1.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notesSlide" Target="../notesSlides/notesSlide6.xml"/><Relationship Id="rId9"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slideLayout" Target="../slideLayouts/slideLayout2.xml"/><Relationship Id="rId7" Type="http://schemas.openxmlformats.org/officeDocument/2006/relationships/diagramQuickStyle" Target="../diagrams/quickStyle3.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notesSlide" Target="../notesSlides/notesSlide8.xml"/><Relationship Id="rId9" Type="http://schemas.microsoft.com/office/2007/relationships/diagramDrawing" Target="../diagrams/drawing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slideLayout" Target="../slideLayouts/slideLayout2.xml"/><Relationship Id="rId7" Type="http://schemas.openxmlformats.org/officeDocument/2006/relationships/diagramLayout" Target="../diagrams/layout4.xml"/><Relationship Id="rId6" Type="http://schemas.openxmlformats.org/officeDocument/2006/relationships/diagramData" Target="../diagrams/data4.xml"/><Relationship Id="rId5" Type="http://schemas.openxmlformats.org/officeDocument/2006/relationships/image" Target="../media/image1.jpeg"/><Relationship Id="rId10" Type="http://schemas.microsoft.com/office/2007/relationships/diagramDrawing" Target="../diagrams/drawing4.xml"/><Relationship Id="rId4" Type="http://schemas.openxmlformats.org/officeDocument/2006/relationships/notesSlide" Target="../notesSlides/notesSlide10.xml"/><Relationship Id="rId9" Type="http://schemas.openxmlformats.org/officeDocument/2006/relationships/diagramColors" Target="../diagrams/colors4.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slideLayout" Target="../slideLayouts/slideLayout2.xml"/><Relationship Id="rId7" Type="http://schemas.openxmlformats.org/officeDocument/2006/relationships/diagramQuickStyle" Target="../diagrams/quickStyle5.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notesSlide" Target="../notesSlides/notesSlide11.xml"/><Relationship Id="rId9" Type="http://schemas.microsoft.com/office/2007/relationships/diagramDrawing" Target="../diagrams/drawing5.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slideLayout" Target="../slideLayouts/slideLayout2.xml"/><Relationship Id="rId7" Type="http://schemas.openxmlformats.org/officeDocument/2006/relationships/diagramQuickStyle" Target="../diagrams/quickStyle6.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notesSlide" Target="../notesSlides/notesSlide12.xml"/><Relationship Id="rId9" Type="http://schemas.microsoft.com/office/2007/relationships/diagramDrawing" Target="../diagrams/drawing6.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slideLayout" Target="../slideLayouts/slideLayout2.xml"/><Relationship Id="rId7" Type="http://schemas.openxmlformats.org/officeDocument/2006/relationships/diagramQuickStyle" Target="../diagrams/quickStyle7.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notesSlide" Target="../notesSlides/notesSlide13.xml"/><Relationship Id="rId9" Type="http://schemas.microsoft.com/office/2007/relationships/diagramDrawing" Target="../diagrams/drawing7.xml"/></Relationships>
</file>

<file path=ppt/slides/_rels/slide14.xml.rels><?xml version="1.0" encoding="UTF-8" standalone="yes"?>
<Relationships xmlns="http://schemas.openxmlformats.org/package/2006/relationships"><Relationship Id="rId8" Type="http://schemas.openxmlformats.org/officeDocument/2006/relationships/hyperlink" Target="https://joss.theoj.org/papers/10.21105/joss.03021" TargetMode="External"/><Relationship Id="rId3" Type="http://schemas.openxmlformats.org/officeDocument/2006/relationships/slideLayout" Target="../slideLayouts/slideLayout2.xml"/><Relationship Id="rId7" Type="http://schemas.openxmlformats.org/officeDocument/2006/relationships/hyperlink" Target="https://www.kaggle.com/datasets/uciml/pima-indians-diabetes-database" TargetMode="External"/><Relationship Id="rId6" Type="http://schemas.openxmlformats.org/officeDocument/2006/relationships/hyperlink" Target="https://doi.org/10.1145/2939672.2939785" TargetMode="External"/><Relationship Id="rId5" Type="http://schemas.openxmlformats.org/officeDocument/2006/relationships/hyperlink" Target="https://doi.org/10.2337/dc24-Sint" TargetMode="Externa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Vaccine storage and manufacturing">
            <a:extLst>
              <a:ext uri="{FF2B5EF4-FFF2-40B4-BE49-F238E27FC236}">
                <a16:creationId xmlns:a16="http://schemas.microsoft.com/office/drawing/2014/main" id="{04B6A18D-4A9D-8F32-5B7D-C90F98BB242C}"/>
              </a:ext>
            </a:extLst>
          </p:cNvPr>
          <p:cNvPicPr>
            <a:picLocks noChangeAspect="1"/>
          </p:cNvPicPr>
          <p:nvPr/>
        </p:nvPicPr>
        <p:blipFill>
          <a:blip r:embed="rId5">
            <a:alphaModFix amt="40000"/>
          </a:blip>
          <a:srcRect l="9909" r="1090" b="-1"/>
          <a:stretch>
            <a:fillRect/>
          </a:stretch>
        </p:blipFill>
        <p:spPr>
          <a:xfrm>
            <a:off x="20" y="10"/>
            <a:ext cx="9143980" cy="6857990"/>
          </a:xfrm>
          <a:prstGeom prst="rect">
            <a:avLst/>
          </a:prstGeom>
        </p:spPr>
      </p:pic>
      <p:sp>
        <p:nvSpPr>
          <p:cNvPr id="2" name="Title 1"/>
          <p:cNvSpPr>
            <a:spLocks noGrp="1"/>
          </p:cNvSpPr>
          <p:nvPr>
            <p:ph type="ctrTitle"/>
          </p:nvPr>
        </p:nvSpPr>
        <p:spPr>
          <a:xfrm>
            <a:off x="866216" y="1447800"/>
            <a:ext cx="6619243" cy="3329581"/>
          </a:xfrm>
        </p:spPr>
        <p:txBody>
          <a:bodyPr>
            <a:normAutofit/>
          </a:bodyPr>
          <a:lstStyle/>
          <a:p>
            <a:pPr>
              <a:lnSpc>
                <a:spcPct val="90000"/>
              </a:lnSpc>
            </a:pPr>
            <a:r>
              <a:rPr lang="en-US" sz="5600">
                <a:solidFill>
                  <a:schemeClr val="tx1"/>
                </a:solidFill>
              </a:rPr>
              <a:t>Predicting Diabetes Using Machine Learning</a:t>
            </a:r>
          </a:p>
        </p:txBody>
      </p:sp>
      <p:sp>
        <p:nvSpPr>
          <p:cNvPr id="3" name="Subtitle 2"/>
          <p:cNvSpPr>
            <a:spLocks noGrp="1"/>
          </p:cNvSpPr>
          <p:nvPr>
            <p:ph type="subTitle" idx="1"/>
          </p:nvPr>
        </p:nvSpPr>
        <p:spPr>
          <a:xfrm>
            <a:off x="866216" y="4777380"/>
            <a:ext cx="6619243" cy="861420"/>
          </a:xfrm>
        </p:spPr>
        <p:txBody>
          <a:bodyPr>
            <a:normAutofit/>
          </a:bodyPr>
          <a:lstStyle/>
          <a:p>
            <a:pPr>
              <a:lnSpc>
                <a:spcPct val="90000"/>
              </a:lnSpc>
            </a:pPr>
            <a:r>
              <a:rPr lang="en-US" sz="2000">
                <a:solidFill>
                  <a:schemeClr val="tx1"/>
                </a:solidFill>
              </a:rPr>
              <a:t>Chelsea Veneziano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r>
              <a:rPr lang="en-US" sz="2800">
                <a:solidFill>
                  <a:srgbClr val="F2F2F2"/>
                </a:solidFill>
              </a:rPr>
              <a:t>Introduction</a:t>
            </a:r>
          </a:p>
        </p:txBody>
      </p:sp>
      <p:sp>
        <p:nvSpPr>
          <p:cNvPr id="12" name="Freeform: Shape 11">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84DA6E0-5302-B108-2665-65238A542074}"/>
              </a:ext>
            </a:extLst>
          </p:cNvPr>
          <p:cNvGraphicFramePr>
            <a:graphicFrameLocks noGrp="1"/>
          </p:cNvGraphicFramePr>
          <p:nvPr>
            <p:ph idx="1"/>
            <p:extLst>
              <p:ext uri="{D42A27DB-BD31-4B8C-83A1-F6EECF244321}">
                <p14:modId xmlns:p14="http://schemas.microsoft.com/office/powerpoint/2010/main" val="1922311485"/>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83477" y="0"/>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2">
              <a:alpha val="20000"/>
            </a:schemeClr>
          </a:solidFill>
          <a:ln>
            <a:noFill/>
          </a:ln>
        </p:spPr>
        <p:txBody>
          <a:bodyPr rtlCol="0" anchor="ctr"/>
          <a:lstStyle/>
          <a:p>
            <a:pPr algn="ctr"/>
            <a:endParaRPr lang="en-US"/>
          </a:p>
        </p:txBody>
      </p:sp>
      <p:sp>
        <p:nvSpPr>
          <p:cNvPr id="7" name="Freeform: Shape 11">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743184"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489857" y="1645920"/>
            <a:ext cx="2642159" cy="4470821"/>
          </a:xfrm>
        </p:spPr>
        <p:txBody>
          <a:bodyPr>
            <a:normAutofit/>
          </a:bodyPr>
          <a:lstStyle/>
          <a:p>
            <a:pPr algn="r"/>
            <a:r>
              <a:rPr lang="en-US">
                <a:solidFill>
                  <a:srgbClr val="FFFFFF"/>
                </a:solidFill>
              </a:rPr>
              <a:t>Project Goal</a:t>
            </a:r>
          </a:p>
        </p:txBody>
      </p:sp>
      <p:sp>
        <p:nvSpPr>
          <p:cNvPr id="3" name="Content Placeholder 2"/>
          <p:cNvSpPr>
            <a:spLocks noGrp="1"/>
          </p:cNvSpPr>
          <p:nvPr>
            <p:ph idx="1"/>
          </p:nvPr>
        </p:nvSpPr>
        <p:spPr>
          <a:xfrm>
            <a:off x="3903081" y="1645920"/>
            <a:ext cx="4439628" cy="4470821"/>
          </a:xfrm>
        </p:spPr>
        <p:txBody>
          <a:bodyPr>
            <a:normAutofit/>
          </a:bodyPr>
          <a:lstStyle/>
          <a:p>
            <a:pPr marL="0" indent="0">
              <a:buNone/>
            </a:pPr>
            <a:r>
              <a:rPr lang="en-US" dirty="0"/>
              <a:t>Use clinical data to develop a predictive model that can support early detection of diabetes and reduce the number of undiagnosed cases.</a:t>
            </a:r>
            <a:endParaRPr dirty="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83477" y="0"/>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Freeform: Shape 11">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743184"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489857" y="1645920"/>
            <a:ext cx="2642159" cy="4470821"/>
          </a:xfrm>
        </p:spPr>
        <p:txBody>
          <a:bodyPr>
            <a:normAutofit/>
          </a:bodyPr>
          <a:lstStyle/>
          <a:p>
            <a:pPr algn="r"/>
            <a:r>
              <a:rPr lang="en-US">
                <a:solidFill>
                  <a:schemeClr val="bg2"/>
                </a:solidFill>
              </a:rPr>
              <a:t>Dataset Overview</a:t>
            </a:r>
          </a:p>
        </p:txBody>
      </p:sp>
      <p:sp>
        <p:nvSpPr>
          <p:cNvPr id="3" name="Content Placeholder 2"/>
          <p:cNvSpPr>
            <a:spLocks noGrp="1"/>
          </p:cNvSpPr>
          <p:nvPr>
            <p:ph idx="1"/>
          </p:nvPr>
        </p:nvSpPr>
        <p:spPr>
          <a:xfrm>
            <a:off x="3903081" y="1645920"/>
            <a:ext cx="4702076" cy="4470821"/>
          </a:xfrm>
        </p:spPr>
        <p:txBody>
          <a:bodyPr>
            <a:normAutofit/>
          </a:bodyPr>
          <a:lstStyle/>
          <a:p>
            <a:r>
              <a:rPr lang="en-US" dirty="0"/>
              <a:t>Based on the Pima Indians Diabetes dataset (sourced from Kaggle)</a:t>
            </a:r>
          </a:p>
          <a:p>
            <a:r>
              <a:rPr lang="en-US" dirty="0"/>
              <a:t>768 patient records with 8 clinical features</a:t>
            </a:r>
          </a:p>
          <a:p>
            <a:r>
              <a:rPr lang="en-US" dirty="0"/>
              <a:t>Includes health metrics like Glucose, BMI, Blood Pressure, Insulin, and Age</a:t>
            </a:r>
          </a:p>
          <a:p>
            <a:r>
              <a:rPr lang="en-US" dirty="0"/>
              <a:t>Outcome column shows if the patient was diagnosed with diabetes (1 = Yes, 0 = No)</a:t>
            </a:r>
          </a:p>
          <a:p>
            <a:pPr marL="0" indent="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lstStyle/>
          <a:p>
            <a:r>
              <a:rPr lang="en-US" dirty="0"/>
              <a:t>Replaced 0s with median values in features like Glucose, Insulin, BMI, etc.</a:t>
            </a:r>
          </a:p>
          <a:p>
            <a:r>
              <a:rPr lang="en-US" dirty="0"/>
              <a:t>Capped extreme outliers at the 99th percentile to reduce distortion</a:t>
            </a:r>
          </a:p>
          <a:p>
            <a:r>
              <a:rPr lang="en-US" dirty="0"/>
              <a:t>Standardized features to ensure fair comparison across variables</a:t>
            </a:r>
          </a:p>
          <a:p>
            <a:r>
              <a:rPr lang="en-US" dirty="0"/>
              <a:t>Split data into 80% training and 20% test set for model evaluation</a:t>
            </a:r>
          </a:p>
          <a:p>
            <a:pPr marL="0" indent="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r>
              <a:rPr lang="en-US" sz="2800">
                <a:solidFill>
                  <a:srgbClr val="F2F2F2"/>
                </a:solidFill>
              </a:rPr>
              <a:t>Key Features</a:t>
            </a:r>
          </a:p>
        </p:txBody>
      </p:sp>
      <p:sp>
        <p:nvSpPr>
          <p:cNvPr id="18"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0" name="Rectangle 19">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21" name="Content Placeholder 2">
            <a:extLst>
              <a:ext uri="{FF2B5EF4-FFF2-40B4-BE49-F238E27FC236}">
                <a16:creationId xmlns:a16="http://schemas.microsoft.com/office/drawing/2014/main" id="{C41FC473-7BAB-EE1D-C442-8FC378FC36E1}"/>
              </a:ext>
            </a:extLst>
          </p:cNvPr>
          <p:cNvGraphicFramePr>
            <a:graphicFrameLocks noGrp="1"/>
          </p:cNvGraphicFramePr>
          <p:nvPr>
            <p:ph idx="1"/>
            <p:extLst>
              <p:ext uri="{D42A27DB-BD31-4B8C-83A1-F6EECF244321}">
                <p14:modId xmlns:p14="http://schemas.microsoft.com/office/powerpoint/2010/main" val="897241211"/>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1" name="Rectangle 20">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5" name="Freeform: Shape 24">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3"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p:cNvSpPr>
            <a:spLocks noGrp="1"/>
          </p:cNvSpPr>
          <p:nvPr>
            <p:ph type="title"/>
          </p:nvPr>
        </p:nvSpPr>
        <p:spPr>
          <a:xfrm>
            <a:off x="827484" y="452718"/>
            <a:ext cx="6710641" cy="1400530"/>
          </a:xfrm>
        </p:spPr>
        <p:txBody>
          <a:bodyPr anchor="ctr">
            <a:normAutofit/>
          </a:bodyPr>
          <a:lstStyle/>
          <a:p>
            <a:r>
              <a:rPr lang="en-US">
                <a:solidFill>
                  <a:srgbClr val="FFFFFF"/>
                </a:solidFill>
              </a:rPr>
              <a:t>Models Used</a:t>
            </a:r>
          </a:p>
        </p:txBody>
      </p:sp>
      <p:sp>
        <p:nvSpPr>
          <p:cNvPr id="3" name="Content Placeholder 2"/>
          <p:cNvSpPr>
            <a:spLocks noGrp="1"/>
          </p:cNvSpPr>
          <p:nvPr>
            <p:ph idx="1"/>
          </p:nvPr>
        </p:nvSpPr>
        <p:spPr>
          <a:xfrm>
            <a:off x="827484" y="2763520"/>
            <a:ext cx="6709905" cy="3484879"/>
          </a:xfrm>
        </p:spPr>
        <p:txBody>
          <a:bodyPr>
            <a:normAutofit/>
          </a:bodyPr>
          <a:lstStyle/>
          <a:p>
            <a:r>
              <a:rPr lang="en-US" b="1" dirty="0"/>
              <a:t>Logistic Regression:</a:t>
            </a:r>
            <a:r>
              <a:rPr lang="en-US" dirty="0"/>
              <a:t> A simple, interpretable starting point</a:t>
            </a:r>
          </a:p>
          <a:p>
            <a:r>
              <a:rPr lang="en-US" b="1" dirty="0"/>
              <a:t>Random Forest:</a:t>
            </a:r>
            <a:r>
              <a:rPr lang="en-US" dirty="0"/>
              <a:t> A tree-based model that improves accuracy and handles complex data well</a:t>
            </a:r>
          </a:p>
          <a:p>
            <a:r>
              <a:rPr lang="en-US" b="1" dirty="0" err="1"/>
              <a:t>XGBoost</a:t>
            </a:r>
            <a:r>
              <a:rPr lang="en-US" b="1" dirty="0"/>
              <a:t>:</a:t>
            </a:r>
            <a:r>
              <a:rPr lang="en-US" dirty="0"/>
              <a:t> A powerful boosting algorithm tested for comparison</a:t>
            </a:r>
          </a:p>
          <a:p>
            <a:endParaRPr dirty="0"/>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r>
              <a:rPr lang="en-US">
                <a:solidFill>
                  <a:srgbClr val="EBEBEB"/>
                </a:solidFill>
              </a:rPr>
              <a:t>Evaluation Metrics</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2"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6335C766-822A-6890-2A8E-10BA4107D1A9}"/>
              </a:ext>
            </a:extLst>
          </p:cNvPr>
          <p:cNvGraphicFramePr>
            <a:graphicFrameLocks noGrp="1"/>
          </p:cNvGraphicFramePr>
          <p:nvPr>
            <p:ph idx="1"/>
            <p:extLst>
              <p:ext uri="{D42A27DB-BD31-4B8C-83A1-F6EECF244321}">
                <p14:modId xmlns:p14="http://schemas.microsoft.com/office/powerpoint/2010/main" val="1312780529"/>
              </p:ext>
            </p:extLst>
          </p:nvPr>
        </p:nvGraphicFramePr>
        <p:xfrm>
          <a:off x="486697" y="2810256"/>
          <a:ext cx="8171528" cy="340427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Results</a:t>
            </a:r>
          </a:p>
        </p:txBody>
      </p:sp>
      <p:sp>
        <p:nvSpPr>
          <p:cNvPr id="3" name="Content Placeholder 2"/>
          <p:cNvSpPr>
            <a:spLocks noGrp="1"/>
          </p:cNvSpPr>
          <p:nvPr>
            <p:ph idx="1"/>
          </p:nvPr>
        </p:nvSpPr>
        <p:spPr/>
        <p:txBody>
          <a:bodyPr/>
          <a:lstStyle/>
          <a:p>
            <a:r>
              <a:rPr lang="en-US" b="1" dirty="0"/>
              <a:t>Logistic Regression:</a:t>
            </a:r>
            <a:r>
              <a:rPr lang="en-US" dirty="0"/>
              <a:t> 77% accuracy, 65% recall</a:t>
            </a:r>
          </a:p>
          <a:p>
            <a:r>
              <a:rPr lang="en-US" b="1" dirty="0"/>
              <a:t>Random Forest:</a:t>
            </a:r>
            <a:r>
              <a:rPr lang="en-US" dirty="0"/>
              <a:t> 77% accuracy, 69% recall (best overall balance)</a:t>
            </a:r>
          </a:p>
          <a:p>
            <a:r>
              <a:rPr lang="en-US" b="1" dirty="0" err="1"/>
              <a:t>XGBoost</a:t>
            </a:r>
            <a:r>
              <a:rPr lang="en-US" b="1" dirty="0"/>
              <a:t>:</a:t>
            </a:r>
            <a:r>
              <a:rPr lang="en-US" dirty="0"/>
              <a:t> 73% accuracy, 73% recall (more false positives)</a:t>
            </a:r>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r>
              <a:t>Final Model Choice</a:t>
            </a:r>
          </a:p>
        </p:txBody>
      </p:sp>
      <p:graphicFrame>
        <p:nvGraphicFramePr>
          <p:cNvPr id="5" name="Content Placeholder 2">
            <a:extLst>
              <a:ext uri="{FF2B5EF4-FFF2-40B4-BE49-F238E27FC236}">
                <a16:creationId xmlns:a16="http://schemas.microsoft.com/office/drawing/2014/main" id="{9CA9C8DF-2483-F5F4-EFC0-81BFE05A8E3F}"/>
              </a:ext>
            </a:extLst>
          </p:cNvPr>
          <p:cNvGraphicFramePr>
            <a:graphicFrameLocks noGrp="1"/>
          </p:cNvGraphicFramePr>
          <p:nvPr>
            <p:ph idx="1"/>
            <p:extLst>
              <p:ext uri="{D42A27DB-BD31-4B8C-83A1-F6EECF244321}">
                <p14:modId xmlns:p14="http://schemas.microsoft.com/office/powerpoint/2010/main" val="646477884"/>
              </p:ext>
            </p:extLst>
          </p:nvPr>
        </p:nvGraphicFramePr>
        <p:xfrm>
          <a:off x="484583" y="2237362"/>
          <a:ext cx="7053264" cy="40467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r>
              <a:rPr lang="en-US" sz="2800">
                <a:solidFill>
                  <a:srgbClr val="F2F2F2"/>
                </a:solidFill>
              </a:rPr>
              <a:t>Conclusion</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2DFD4C6-6462-F776-F4A4-D614FA4549EC}"/>
              </a:ext>
            </a:extLst>
          </p:cNvPr>
          <p:cNvGraphicFramePr>
            <a:graphicFrameLocks noGrp="1"/>
          </p:cNvGraphicFramePr>
          <p:nvPr>
            <p:ph idx="1"/>
            <p:extLst>
              <p:ext uri="{D42A27DB-BD31-4B8C-83A1-F6EECF244321}">
                <p14:modId xmlns:p14="http://schemas.microsoft.com/office/powerpoint/2010/main" val="2608237434"/>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r>
              <a:rPr lang="en-US" sz="2600">
                <a:solidFill>
                  <a:srgbClr val="F2F2F2"/>
                </a:solidFill>
              </a:rPr>
              <a:t>Future Improvements</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55068C0B-66C7-DC53-1269-561F31FBF4B6}"/>
              </a:ext>
            </a:extLst>
          </p:cNvPr>
          <p:cNvGraphicFramePr>
            <a:graphicFrameLocks noGrp="1"/>
          </p:cNvGraphicFramePr>
          <p:nvPr>
            <p:ph idx="1"/>
            <p:extLst>
              <p:ext uri="{D42A27DB-BD31-4B8C-83A1-F6EECF244321}">
                <p14:modId xmlns:p14="http://schemas.microsoft.com/office/powerpoint/2010/main" val="1094594925"/>
              </p:ext>
            </p:extLst>
          </p:nvPr>
        </p:nvGraphicFramePr>
        <p:xfrm>
          <a:off x="4206478" y="965200"/>
          <a:ext cx="4211240" cy="47736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891" y="1447800"/>
            <a:ext cx="2331469" cy="4572000"/>
          </a:xfrm>
        </p:spPr>
        <p:txBody>
          <a:bodyPr anchor="ctr">
            <a:normAutofit/>
          </a:bodyPr>
          <a:lstStyle/>
          <a:p>
            <a:r>
              <a:rPr lang="en-US" sz="2800">
                <a:solidFill>
                  <a:srgbClr val="F2F2F2"/>
                </a:solidFill>
              </a:rPr>
              <a:t>Tools &amp; Libraries</a:t>
            </a:r>
          </a:p>
        </p:txBody>
      </p:sp>
      <p:sp>
        <p:nvSpPr>
          <p:cNvPr id="11" name="Freeform: Shape 10">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5" name="Rectangle 14">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02B2F91D-034A-2A83-712C-FCF33CC7C0AA}"/>
              </a:ext>
            </a:extLst>
          </p:cNvPr>
          <p:cNvGraphicFramePr>
            <a:graphicFrameLocks noGrp="1"/>
          </p:cNvGraphicFramePr>
          <p:nvPr>
            <p:ph idx="1"/>
            <p:extLst>
              <p:ext uri="{D42A27DB-BD31-4B8C-83A1-F6EECF244321}">
                <p14:modId xmlns:p14="http://schemas.microsoft.com/office/powerpoint/2010/main" val="3738309904"/>
              </p:ext>
            </p:extLst>
          </p:nvPr>
        </p:nvGraphicFramePr>
        <p:xfrm>
          <a:off x="3786187" y="1447800"/>
          <a:ext cx="4872038" cy="4572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normAutofit fontScale="77500" lnSpcReduction="20000"/>
          </a:bodyPr>
          <a:lstStyle/>
          <a:p>
            <a:r>
              <a:rPr lang="en-US" dirty="0"/>
              <a:t>American Diabetes Association. (2024). </a:t>
            </a:r>
            <a:r>
              <a:rPr lang="en-US" i="1" dirty="0"/>
              <a:t>Standards of medical care in diabetes—2024</a:t>
            </a:r>
            <a:r>
              <a:rPr lang="en-US" dirty="0"/>
              <a:t>. </a:t>
            </a:r>
            <a:r>
              <a:rPr lang="en-US" i="1" dirty="0"/>
              <a:t>Diabetes Care, 47</a:t>
            </a:r>
            <a:r>
              <a:rPr lang="en-US" dirty="0"/>
              <a:t>(Supplement 1), S1–S300. </a:t>
            </a:r>
            <a:r>
              <a:rPr lang="en-US" dirty="0">
                <a:hlinkClick r:id="rId5"/>
              </a:rPr>
              <a:t>https://doi.org/10.2337/dc24-Sint</a:t>
            </a:r>
            <a:endParaRPr lang="en-US" dirty="0"/>
          </a:p>
          <a:p>
            <a:r>
              <a:rPr lang="en-US" dirty="0"/>
              <a:t>Chen, T., &amp; </a:t>
            </a:r>
            <a:r>
              <a:rPr lang="en-US" dirty="0" err="1"/>
              <a:t>Guestrin</a:t>
            </a:r>
            <a:r>
              <a:rPr lang="en-US" dirty="0"/>
              <a:t>, C. (2016, August). </a:t>
            </a:r>
            <a:r>
              <a:rPr lang="en-US" dirty="0" err="1"/>
              <a:t>XGBoost</a:t>
            </a:r>
            <a:r>
              <a:rPr lang="en-US" dirty="0"/>
              <a:t>: A scalable tree boosting system. In </a:t>
            </a:r>
            <a:r>
              <a:rPr lang="en-US" i="1" dirty="0"/>
              <a:t>Proceedings of the 22nd ACM SIGKDD International Conference on Knowledge Discovery and Data Mining</a:t>
            </a:r>
            <a:r>
              <a:rPr lang="en-US" dirty="0"/>
              <a:t> (pp. 785–794). </a:t>
            </a:r>
            <a:r>
              <a:rPr lang="en-US" dirty="0">
                <a:hlinkClick r:id="rId6"/>
              </a:rPr>
              <a:t>https://doi.org/10.1145/2939672.2939785</a:t>
            </a:r>
            <a:endParaRPr lang="en-US" dirty="0"/>
          </a:p>
          <a:p>
            <a:r>
              <a:rPr lang="en-US" dirty="0"/>
              <a:t>Kaggle. (n.d.). </a:t>
            </a:r>
            <a:r>
              <a:rPr lang="en-US" i="1" dirty="0"/>
              <a:t>Pima Indians diabetes database</a:t>
            </a:r>
            <a:r>
              <a:rPr lang="en-US" dirty="0"/>
              <a:t>. </a:t>
            </a:r>
            <a:r>
              <a:rPr lang="en-US" dirty="0">
                <a:hlinkClick r:id="rId7"/>
              </a:rPr>
              <a:t>https://www.kaggle.com/datasets/uciml/pima-indians-diabetes-database</a:t>
            </a:r>
            <a:endParaRPr lang="en-US" dirty="0"/>
          </a:p>
          <a:p>
            <a:r>
              <a:rPr lang="en-US" dirty="0"/>
              <a:t>Pedregosa, F., Varoquaux, G., </a:t>
            </a:r>
            <a:r>
              <a:rPr lang="en-US" dirty="0" err="1"/>
              <a:t>Gramfort</a:t>
            </a:r>
            <a:r>
              <a:rPr lang="en-US" dirty="0"/>
              <a:t>, A., Michel, V., Thirion, B., Grisel, O., ... &amp; Duchesnay, </a:t>
            </a:r>
            <a:r>
              <a:rPr lang="en-US" dirty="0" err="1"/>
              <a:t>É</a:t>
            </a:r>
            <a:r>
              <a:rPr lang="en-US" dirty="0"/>
              <a:t>. (2011). Scikit-learn: Machine learning in Python. </a:t>
            </a:r>
            <a:r>
              <a:rPr lang="en-US" i="1" dirty="0"/>
              <a:t>Journal of Machine Learning Research, 12</a:t>
            </a:r>
            <a:r>
              <a:rPr lang="en-US" dirty="0"/>
              <a:t>, 2825–2830.</a:t>
            </a:r>
          </a:p>
          <a:p>
            <a:r>
              <a:rPr lang="en-US" dirty="0"/>
              <a:t>Waskom, M. L. (2021). Seaborn: Statistical data visualization. </a:t>
            </a:r>
            <a:r>
              <a:rPr lang="en-US" i="1" dirty="0"/>
              <a:t>Journal of Open Source Software, 6</a:t>
            </a:r>
            <a:r>
              <a:rPr lang="en-US" dirty="0"/>
              <a:t>(60), 3021. </a:t>
            </a:r>
            <a:r>
              <a:rPr lang="en-US" dirty="0">
                <a:hlinkClick r:id="rId8"/>
              </a:rPr>
              <a:t>https://joss.theoj.org/papers/10.21105/joss.03021</a:t>
            </a:r>
            <a:endParaRPr lang="en-US" dirty="0"/>
          </a:p>
          <a:p>
            <a:pPr marL="0" indent="0">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100</TotalTime>
  <Words>1805</Words>
  <Application>Microsoft Macintosh PowerPoint</Application>
  <PresentationFormat>On-screen Show (4:3)</PresentationFormat>
  <Paragraphs>86</Paragraphs>
  <Slides>14</Slides>
  <Notes>14</Notes>
  <HiddenSlides>0</HiddenSlides>
  <MMClips>14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Century Gothic</vt:lpstr>
      <vt:lpstr>Wingdings 3</vt:lpstr>
      <vt:lpstr>Ion</vt:lpstr>
      <vt:lpstr>Predicting Diabetes Using Machine Learning</vt:lpstr>
      <vt:lpstr>Introduction</vt:lpstr>
      <vt:lpstr>Project Goal</vt:lpstr>
      <vt:lpstr>Dataset Overview</vt:lpstr>
      <vt:lpstr>Data Preparation</vt:lpstr>
      <vt:lpstr>Key Features</vt:lpstr>
      <vt:lpstr>Models Used</vt:lpstr>
      <vt:lpstr>Evaluation Metrics</vt:lpstr>
      <vt:lpstr>Model Results</vt:lpstr>
      <vt:lpstr>Final Model Choice</vt:lpstr>
      <vt:lpstr>Conclusion</vt:lpstr>
      <vt:lpstr>Future Improvements</vt:lpstr>
      <vt:lpstr>Tools &amp; Libraries</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Chelsea Venezinao</cp:lastModifiedBy>
  <cp:revision>3</cp:revision>
  <dcterms:created xsi:type="dcterms:W3CDTF">2013-01-27T09:14:16Z</dcterms:created>
  <dcterms:modified xsi:type="dcterms:W3CDTF">2025-05-29T23:51:51Z</dcterms:modified>
  <cp:category/>
</cp:coreProperties>
</file>